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9" r:id="rId2"/>
    <p:sldId id="258" r:id="rId3"/>
    <p:sldId id="270" r:id="rId4"/>
    <p:sldId id="267" r:id="rId5"/>
    <p:sldId id="274" r:id="rId19"/>
    <p:sldId id="275" r:id="rId20"/>
    <p:sldId id="276" r:id="rId21"/>
    <p:sldId id="260" r:id="rId6"/>
    <p:sldId id="271" r:id="rId16"/>
    <p:sldId id="272" r:id="rId17"/>
    <p:sldId id="273" r:id="rId18"/>
    <p:sldId id="268" r:id="rId7"/>
    <p:sldId id="264" r:id="rId8"/>
    <p:sldId id="266"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9DBF"/>
    <a:srgbClr val="372472"/>
    <a:srgbClr val="BBBCDE"/>
    <a:srgbClr val="280A41"/>
    <a:srgbClr val="230A3A"/>
    <a:srgbClr val="401AC1"/>
    <a:srgbClr val="200D45"/>
    <a:srgbClr val="FFED97"/>
    <a:srgbClr val="0000FF"/>
    <a:srgbClr val="FF6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14" Type="http://schemas.openxmlformats.org/officeDocument/2006/relationships/theme" Target="theme/theme1.xml"/>  <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549DB-4EF3-40B0-A785-8572249070D6}" type="datetimeFigureOut">
              <a:rPr lang="ko-KR" altLang="en-US" smtClean="0"/>
              <a:t>2026-08-11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97B3-0D7D-4E86-933F-EBF9BA5F97E0}" type="slidenum">
              <a:rPr lang="ko-KR" altLang="en-US" smtClean="0"/>
              <a:t>‹#›</a:t>
            </a:fld>
            <a:endParaRPr lang="ko-KR" altLang="en-US"/>
          </a:p>
        </p:txBody>
      </p:sp>
    </p:spTree>
    <p:extLst>
      <p:ext uri="{BB962C8B-B14F-4D97-AF65-F5344CB8AC3E}">
        <p14:creationId xmlns:p14="http://schemas.microsoft.com/office/powerpoint/2010/main" val="1932172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5710554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서비스 소개">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0"/>
            <a:ext cx="12146070" cy="6801799"/>
          </a:xfrm>
          <a:prstGeom prst="rect">
            <a:avLst/>
          </a:prstGeom>
        </p:spPr>
      </p:pic>
    </p:spTree>
    <p:extLst>
      <p:ext uri="{BB962C8B-B14F-4D97-AF65-F5344CB8AC3E}">
        <p14:creationId xmlns:p14="http://schemas.microsoft.com/office/powerpoint/2010/main" val="35362232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해시태그 연계 핵심 기능별 흐름도">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46070" cy="6820852"/>
          </a:xfrm>
          <a:prstGeom prst="rect">
            <a:avLst/>
          </a:prstGeom>
        </p:spPr>
      </p:pic>
    </p:spTree>
    <p:extLst>
      <p:ext uri="{BB962C8B-B14F-4D97-AF65-F5344CB8AC3E}">
        <p14:creationId xmlns:p14="http://schemas.microsoft.com/office/powerpoint/2010/main" val="143966490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서비스 관련 이미지">
    <p:spTree>
      <p:nvGrpSpPr>
        <p:cNvPr id="1" name=""/>
        <p:cNvGrpSpPr/>
        <p:nvPr/>
      </p:nvGrpSpPr>
      <p:grpSpPr>
        <a:xfrm>
          <a:off x="0" y="0"/>
          <a:ext cx="0" cy="0"/>
          <a:chOff x="0" y="0"/>
          <a:chExt cx="0" cy="0"/>
        </a:xfrm>
      </p:grpSpPr>
      <p:pic>
        <p:nvPicPr>
          <p:cNvPr id="10" name="그림 9"/>
          <p:cNvPicPr>
            <a:picLocks noChangeAspect="1"/>
          </p:cNvPicPr>
          <p:nvPr userDrawn="1"/>
        </p:nvPicPr>
        <p:blipFill>
          <a:blip r:embed="rId2"/>
          <a:stretch>
            <a:fillRect/>
          </a:stretch>
        </p:blipFill>
        <p:spPr>
          <a:xfrm>
            <a:off x="0" y="0"/>
            <a:ext cx="12146070" cy="6849431"/>
          </a:xfrm>
          <a:prstGeom prst="rect">
            <a:avLst/>
          </a:prstGeom>
        </p:spPr>
      </p:pic>
    </p:spTree>
    <p:extLst>
      <p:ext uri="{BB962C8B-B14F-4D97-AF65-F5344CB8AC3E}">
        <p14:creationId xmlns:p14="http://schemas.microsoft.com/office/powerpoint/2010/main" val="93538241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데이터 활용(한국관광공사 OpenAPI)">
    <p:spTree>
      <p:nvGrpSpPr>
        <p:cNvPr id="1" name=""/>
        <p:cNvGrpSpPr/>
        <p:nvPr/>
      </p:nvGrpSpPr>
      <p:grpSpPr>
        <a:xfrm>
          <a:off x="0" y="0"/>
          <a:ext cx="0" cy="0"/>
          <a:chOff x="0" y="0"/>
          <a:chExt cx="0" cy="0"/>
        </a:xfrm>
      </p:grpSpPr>
      <p:pic>
        <p:nvPicPr>
          <p:cNvPr id="4" name="그림 3"/>
          <p:cNvPicPr>
            <a:picLocks noChangeAspect="1"/>
          </p:cNvPicPr>
          <p:nvPr userDrawn="1"/>
        </p:nvPicPr>
        <p:blipFill>
          <a:blip r:embed="rId2"/>
          <a:stretch>
            <a:fillRect/>
          </a:stretch>
        </p:blipFill>
        <p:spPr>
          <a:xfrm>
            <a:off x="0" y="0"/>
            <a:ext cx="12107965" cy="6830378"/>
          </a:xfrm>
          <a:prstGeom prst="rect">
            <a:avLst/>
          </a:prstGeom>
        </p:spPr>
      </p:pic>
    </p:spTree>
    <p:extLst>
      <p:ext uri="{BB962C8B-B14F-4D97-AF65-F5344CB8AC3E}">
        <p14:creationId xmlns:p14="http://schemas.microsoft.com/office/powerpoint/2010/main" val="256122898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데이터 활용(기타)">
    <p:spTree>
      <p:nvGrpSpPr>
        <p:cNvPr id="1" name=""/>
        <p:cNvGrpSpPr/>
        <p:nvPr/>
      </p:nvGrpSpPr>
      <p:grpSpPr>
        <a:xfrm>
          <a:off x="0" y="0"/>
          <a:ext cx="0" cy="0"/>
          <a:chOff x="0" y="0"/>
          <a:chExt cx="0" cy="0"/>
        </a:xfrm>
      </p:grpSpPr>
      <p:pic>
        <p:nvPicPr>
          <p:cNvPr id="4" name="그림 3"/>
          <p:cNvPicPr>
            <a:picLocks noChangeAspect="1"/>
          </p:cNvPicPr>
          <p:nvPr userDrawn="1"/>
        </p:nvPicPr>
        <p:blipFill>
          <a:blip r:embed="rId2"/>
          <a:stretch>
            <a:fillRect/>
          </a:stretch>
        </p:blipFill>
        <p:spPr>
          <a:xfrm>
            <a:off x="0" y="0"/>
            <a:ext cx="12127017" cy="6820852"/>
          </a:xfrm>
          <a:prstGeom prst="rect">
            <a:avLst/>
          </a:prstGeom>
        </p:spPr>
      </p:pic>
    </p:spTree>
    <p:extLst>
      <p:ext uri="{BB962C8B-B14F-4D97-AF65-F5344CB8AC3E}">
        <p14:creationId xmlns:p14="http://schemas.microsoft.com/office/powerpoint/2010/main" val="350983382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서비스 차별성&amp;발전계획">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36544" cy="6839905"/>
          </a:xfrm>
          <a:prstGeom prst="rect">
            <a:avLst/>
          </a:prstGeom>
        </p:spPr>
      </p:pic>
    </p:spTree>
    <p:extLst>
      <p:ext uri="{BB962C8B-B14F-4D97-AF65-F5344CB8AC3E}">
        <p14:creationId xmlns:p14="http://schemas.microsoft.com/office/powerpoint/2010/main" val="14592493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A38FB6A-844E-4645-B6B8-D2945F9927BB}" type="datetimeFigureOut">
              <a:rPr lang="ko-KR" altLang="en-US" smtClean="0"/>
              <a:t>2026-08-11</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8832701-68F9-4777-ABB9-C14E97591467}" type="slidenum">
              <a:rPr lang="ko-KR" altLang="en-US" smtClean="0"/>
              <a:t>‹#›</a:t>
            </a:fld>
            <a:endParaRPr lang="ko-KR" altLang="en-US"/>
          </a:p>
        </p:txBody>
      </p:sp>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049151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38FB6A-844E-4645-B6B8-D2945F9927BB}" type="datetimeFigureOut">
              <a:rPr lang="ko-KR" altLang="en-US" smtClean="0"/>
              <a:t>2026-08-11</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32701-68F9-4777-ABB9-C14E97591467}" type="slidenum">
              <a:rPr lang="ko-KR" altLang="en-US" smtClean="0"/>
              <a:t>‹#›</a:t>
            </a:fld>
            <a:endParaRPr lang="ko-KR" altLang="en-US"/>
          </a:p>
        </p:txBody>
      </p:sp>
    </p:spTree>
    <p:extLst>
      <p:ext uri="{BB962C8B-B14F-4D97-AF65-F5344CB8AC3E}">
        <p14:creationId xmlns:p14="http://schemas.microsoft.com/office/powerpoint/2010/main" val="221733254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1" r:id="rId3"/>
    <p:sldLayoutId id="2147483666" r:id="rId4"/>
    <p:sldLayoutId id="2147483662" r:id="rId5"/>
    <p:sldLayoutId id="2147483663" r:id="rId6"/>
    <p:sldLayoutId id="2147483664" r:id="rId7"/>
    <p:sldLayoutId id="2147483668" r:id="rId8"/>
  </p:sldLayoutIdLst>
  <p:timing>
    <p:tnLst>
      <p:par>
        <p:cTn id="1" dur="indefinite" restart="never" nodeType="tmRoot"/>
      </p:par>
    </p:tnLst>
  </p:timing>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401AC1"/>
            </a:gs>
            <a:gs pos="100000">
              <a:srgbClr val="280A41"/>
            </a:gs>
            <a:gs pos="75000">
              <a:srgbClr val="230A3A"/>
            </a:gs>
          </a:gsLst>
          <a:lin ang="2700000" scaled="1"/>
          <a:tileRect/>
        </a:gradFill>
        <a:effectLst/>
      </p:bgPr>
    </p:bg>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1189898654"/>
              </p:ext>
            </p:extLst>
          </p:nvPr>
        </p:nvGraphicFramePr>
        <p:xfrm>
          <a:off x="527397" y="4563687"/>
          <a:ext cx="6712988" cy="1112210"/>
        </p:xfrm>
        <a:graphic>
          <a:graphicData uri="http://schemas.openxmlformats.org/drawingml/2006/table">
            <a:tbl>
              <a:tblPr firstRow="1" bandRow="1">
                <a:tableStyleId>{5C22544A-7EE6-4342-B048-85BDC9FD1C3A}</a:tableStyleId>
              </a:tblPr>
              <a:tblGrid>
                <a:gridCol w="1891569">
                  <a:extLst>
                    <a:ext uri="{9D8B030D-6E8A-4147-A177-3AD203B41FA5}">
                      <a16:colId xmlns:a16="http://schemas.microsoft.com/office/drawing/2014/main" val="2581860913"/>
                    </a:ext>
                  </a:extLst>
                </a:gridCol>
                <a:gridCol w="4821419">
                  <a:extLst>
                    <a:ext uri="{9D8B030D-6E8A-4147-A177-3AD203B41FA5}">
                      <a16:colId xmlns:a16="http://schemas.microsoft.com/office/drawing/2014/main" val="1059508984"/>
                    </a:ext>
                  </a:extLst>
                </a:gridCol>
              </a:tblGrid>
              <a:tr h="547792">
                <a:tc>
                  <a:txBody>
                    <a:bodyPr/>
                    <a:lstStyle/>
                    <a:p>
                      <a:pPr algn="ctr" latinLnBrk="1"/>
                      <a:r>
                        <a:rPr lang="ko-KR" altLang="en-US" sz="2400" b="1">
                          <a:solidFill>
                            <a:schemeClr val="bg1"/>
                          </a:solidFill>
                        </a:rPr>
                        <a:t>팀 명</a:t>
                      </a: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latinLnBrk="1"/>
                      <a:endParaRPr lang="ko-KR" altLang="en-US" sz="2400" b="0">
                        <a:solidFill>
                          <a:schemeClr val="tx1"/>
                        </a:solidFill>
                      </a:endParaRP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BBBCDE"/>
                    </a:solidFill>
                  </a:tcPr>
                </a:tc>
                <a:extLst>
                  <a:ext uri="{0D108BD9-81ED-4DB2-BD59-A6C34878D82A}">
                    <a16:rowId xmlns:a16="http://schemas.microsoft.com/office/drawing/2014/main" val="3342559057"/>
                  </a:ext>
                </a:extLst>
              </a:tr>
              <a:tr h="564418">
                <a:tc>
                  <a:txBody>
                    <a:bodyPr/>
                    <a:lstStyle/>
                    <a:p>
                      <a:pPr algn="ctr" latinLnBrk="1"/>
                      <a:r>
                        <a:rPr lang="ko-KR" altLang="en-US" sz="2400" b="1">
                          <a:solidFill>
                            <a:schemeClr val="bg1"/>
                          </a:solidFill>
                        </a:rPr>
                        <a:t>서비스</a:t>
                      </a:r>
                      <a:r>
                        <a:rPr lang="ko-KR" altLang="en-US" sz="2400" b="1" baseline="0">
                          <a:solidFill>
                            <a:schemeClr val="bg1"/>
                          </a:solidFill>
                        </a:rPr>
                        <a:t> </a:t>
                      </a:r>
                      <a:r>
                        <a:rPr lang="ko-KR" altLang="en-US" sz="2400" b="1">
                          <a:solidFill>
                            <a:schemeClr val="bg1"/>
                          </a:solidFill>
                        </a:rPr>
                        <a:t>명</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372472"/>
                    </a:solidFill>
                  </a:tcPr>
                </a:tc>
                <a:tc>
                  <a:txBody>
                    <a:bodyPr/>
                    <a:lstStyle/>
                    <a:p>
                      <a:r>
                        <a:rPr lang="ko-KR" altLang="en-US" sz="2000" b="0">
                          <a:solidFill>
                            <a:schemeClr val="tx1"/>
                          </a:solidFill>
                        </a:rPr>
                        <a:t>Visit Holy Korea — 길 위에서 나를 만나는 성지순례</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BBBCDE"/>
                    </a:solidFill>
                  </a:tcPr>
                </a:tc>
                <a:extLst>
                  <a:ext uri="{0D108BD9-81ED-4DB2-BD59-A6C34878D82A}">
                    <a16:rowId xmlns:a16="http://schemas.microsoft.com/office/drawing/2014/main" val="2441169869"/>
                  </a:ext>
                </a:extLst>
              </a:tr>
            </a:tbl>
          </a:graphicData>
        </a:graphic>
      </p:graphicFrame>
    </p:spTree>
    <p:extLst>
      <p:ext uri="{BB962C8B-B14F-4D97-AF65-F5344CB8AC3E}">
        <p14:creationId xmlns:p14="http://schemas.microsoft.com/office/powerpoint/2010/main" val="1353449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4119378647"/>
              </p:ext>
            </p:extLst>
          </p:nvPr>
        </p:nvGraphicFramePr>
        <p:xfrm>
          <a:off x="271088" y="1065402"/>
          <a:ext cx="11649825" cy="5654871"/>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893693">
                <a:tc>
                  <a:txBody>
                    <a:bodyPr/>
                    <a:lstStyle/>
                    <a:p>
                      <a:pPr algn="ctr" latinLnBrk="1"/>
                      <a:r>
                        <a:rPr lang="ko-KR" altLang="en-US" b="1">
                          <a:solidFill>
                            <a:schemeClr val="bg1"/>
                          </a:solidFill>
                        </a:rPr>
                        <a:t>서비스명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Visit Holy Korea — 길 위에서 나를 만나는 성지순례</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625585">
                <a:tc>
                  <a:txBody>
                    <a:bodyPr/>
                    <a:lstStyle/>
                    <a:p>
                      <a:pPr algn="ctr" latinLnBrk="1"/>
                      <a:r>
                        <a:rPr lang="ko-KR" altLang="en-US" b="1">
                          <a:solidFill>
                            <a:schemeClr val="bg1"/>
                          </a:solidFill>
                        </a:rPr>
                        <a:t>서비스 유형</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웹 서비스 (PWA) — Android/iOS 앱(Capacitor) 빌드 준비 중</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r h="893693">
                <a:tc>
                  <a:txBody>
                    <a:bodyPr/>
                    <a:lstStyle/>
                    <a:p>
                      <a:pPr algn="ctr" latinLnBrk="1"/>
                      <a:r>
                        <a:rPr lang="ko-KR" altLang="en-US" b="1">
                          <a:solidFill>
                            <a:schemeClr val="bg1"/>
                          </a:solidFill>
                        </a:rPr>
                        <a:t>서비스 </a:t>
                      </a:r>
                      <a:r>
                        <a:rPr lang="ko-KR" altLang="en-US" b="1" smtClean="0">
                          <a:solidFill>
                            <a:schemeClr val="bg1"/>
                          </a:solidFill>
                        </a:rPr>
                        <a:t>타깃</a:t>
                      </a:r>
                      <a:endParaRPr lang="en-US" altLang="ko-KR"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여유로운 여행을 원하는 자유여행객, 심리적 재충전이 필요한 사람, 종교 여부와 무관하게 걷기·사색 여행에 관심 있는 사람, 성지순례객 및 외국인 관광객</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64568051"/>
                  </a:ext>
                </a:extLst>
              </a:tr>
              <a:tr h="1161801">
                <a:tc>
                  <a:txBody>
                    <a:bodyPr/>
                    <a:lstStyle/>
                    <a:p>
                      <a:pPr algn="ctr" latinLnBrk="1"/>
                      <a:r>
                        <a:rPr lang="ko-KR" altLang="en-US" b="1">
                          <a:solidFill>
                            <a:schemeClr val="bg1"/>
                          </a:solidFill>
                        </a:rPr>
                        <a:t>서비스 개요</a:t>
                      </a:r>
                      <a:endParaRPr lang="en-US" altLang="ko-KR"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붐비는 유명 관광지 대신, 감정에 맞는 한적한 성지와 도보권 관광지를 실시간 TourAPI 데이터로 엮어 안내하는 오버투어리즘 분산 순례 코스 추천 서비스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69164922"/>
                  </a:ext>
                </a:extLst>
              </a:tr>
              <a:tr h="1161801">
                <a:tc>
                  <a:txBody>
                    <a:bodyPr/>
                    <a:lstStyle/>
                    <a:p>
                      <a:pPr algn="ctr" latinLnBrk="1"/>
                      <a:r>
                        <a:rPr lang="ko-KR" altLang="en-US" b="1" smtClean="0">
                          <a:solidFill>
                            <a:schemeClr val="bg1"/>
                          </a:solidFill>
                        </a:rPr>
                        <a:t>선택 </a:t>
                      </a:r>
                      <a:r>
                        <a:rPr lang="ko-KR" altLang="en-US" b="1" err="1" smtClean="0">
                          <a:solidFill>
                            <a:schemeClr val="bg1"/>
                          </a:solidFill>
                        </a:rPr>
                        <a:t>지정과제</a:t>
                      </a:r>
                      <a:endParaRPr lang="ko-KR" altLang="en-US"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과제번호 2번 (유명 관광지 쏠림/오버투어리즘 문제 해결)</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r h="80855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800" b="1" err="1" smtClean="0">
                          <a:solidFill>
                            <a:schemeClr val="bg1"/>
                          </a:solidFill>
                        </a:rPr>
                        <a:t>지정과제</a:t>
                      </a:r>
                      <a:endParaRPr lang="en-US" altLang="ko-KR" sz="1800" b="1" baseline="0" smtClean="0">
                        <a:solidFill>
                          <a:schemeClr val="bg1"/>
                        </a:solidFil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800" b="1" baseline="0" smtClean="0">
                          <a:solidFill>
                            <a:schemeClr val="bg1"/>
                          </a:solidFill>
                        </a:rPr>
                        <a:t>선택</a:t>
                      </a:r>
                      <a:r>
                        <a:rPr lang="en-US" altLang="ko-KR" sz="1800" b="1" baseline="0" smtClean="0">
                          <a:solidFill>
                            <a:schemeClr val="bg1"/>
                          </a:solidFill>
                        </a:rPr>
                        <a:t> </a:t>
                      </a:r>
                      <a:r>
                        <a:rPr lang="ko-KR" altLang="en-US" sz="1800" b="1" baseline="0" smtClean="0">
                          <a:solidFill>
                            <a:schemeClr val="bg1"/>
                          </a:solidFill>
                        </a:rPr>
                        <a:t>이유</a:t>
                      </a:r>
                      <a:endParaRPr lang="ko-KR" altLang="en-US" sz="1800" b="1"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전국 성지 208곳은 특정 대도시에 쏠리지 않고 전국 각지에 분포하며 대부분 한적해 오버투어리즘의 정반대 특성을 가진다. 이 자원을 활용하면 혼잡 관광지 이용객을 실질적으로 분산시킬 수 있다고 판단해 지정과제 2번을 선택했다.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8133503"/>
                  </a:ext>
                </a:extLst>
              </a:tr>
            </a:tbl>
          </a:graphicData>
        </a:graphic>
      </p:graphicFrame>
    </p:spTree>
    <p:extLst>
      <p:ext uri="{BB962C8B-B14F-4D97-AF65-F5344CB8AC3E}">
        <p14:creationId xmlns:p14="http://schemas.microsoft.com/office/powerpoint/2010/main" val="15260009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3976248600"/>
              </p:ext>
            </p:extLst>
          </p:nvPr>
        </p:nvGraphicFramePr>
        <p:xfrm>
          <a:off x="271088" y="1065401"/>
          <a:ext cx="11649825" cy="5570292"/>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78514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baseline="0" dirty="0" err="1" smtClean="0">
                          <a:solidFill>
                            <a:schemeClr val="bg1"/>
                          </a:solidFill>
                        </a:rPr>
                        <a:t>지정과제</a:t>
                      </a:r>
                      <a:r>
                        <a:rPr lang="ko-KR" altLang="en-US" b="1" baseline="0" dirty="0" smtClean="0">
                          <a:solidFill>
                            <a:schemeClr val="bg1"/>
                          </a:solidFill>
                        </a:rPr>
                        <a:t> 기반</a:t>
                      </a:r>
                      <a:endParaRPr lang="en-US" altLang="ko-KR" b="1" baseline="0" dirty="0" smtClean="0">
                        <a:solidFill>
                          <a:schemeClr val="bg1"/>
                        </a:solidFil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baseline="0" dirty="0" smtClean="0">
                          <a:solidFill>
                            <a:schemeClr val="bg1"/>
                          </a:solidFill>
                        </a:rPr>
                        <a:t>서비스 기획 방향</a:t>
                      </a:r>
                      <a:endParaRPr lang="en-US" altLang="ko-KR" b="1" baseline="0"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기존 오버투어리즘 대응은 대개 '명소 A 대신 B'식 1:1 대체 추천에 그친다. 본 서비스는 한 걸음 더 나아가 혼잡 명소를 경유하되 그 옆의 한적한 성지를 엮은 완결된 코스를 제안한다. 또한 TourAPI 축제·명소 데이터를 매일 합산해 성지별 붐빔 지수(0~100)를 실시간으로 계산하고, 지수가 낮은 성지를 '오늘의 쉼표'로 그날그날 추천한다.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785146">
                <a:tc>
                  <a:txBody>
                    <a:bodyPr/>
                    <a:lstStyle/>
                    <a:p>
                      <a:pPr algn="ctr" latinLnBrk="1"/>
                      <a:r>
                        <a:rPr lang="ko-KR" altLang="en-US" b="1" dirty="0" smtClean="0">
                          <a:solidFill>
                            <a:schemeClr val="bg1"/>
                          </a:solidFill>
                        </a:rPr>
                        <a:t>해시태그</a:t>
                      </a:r>
                      <a:r>
                        <a:rPr lang="en-US" altLang="ko-KR" b="1" baseline="0" dirty="0" smtClean="0">
                          <a:solidFill>
                            <a:schemeClr val="bg1"/>
                          </a:solidFill>
                        </a:rPr>
                        <a:t> </a:t>
                      </a:r>
                      <a:r>
                        <a:rPr lang="ko-KR" altLang="en-US" b="1" dirty="0" smtClean="0">
                          <a:solidFill>
                            <a:schemeClr val="bg1"/>
                          </a:solidFill>
                        </a:rPr>
                        <a:t>목록</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#오늘의쉼표, #쉼표순례길, #마음나침반, #순례가이드미카엘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99883579"/>
                  </a:ext>
                </a:extLst>
              </a:tr>
            </a:tbl>
          </a:graphicData>
        </a:graphic>
      </p:graphicFrame>
    </p:spTree>
    <p:extLst>
      <p:ext uri="{BB962C8B-B14F-4D97-AF65-F5344CB8AC3E}">
        <p14:creationId xmlns:p14="http://schemas.microsoft.com/office/powerpoint/2010/main" val="732848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38217558"/>
              </p:ext>
            </p:extLst>
          </p:nvPr>
        </p:nvGraphicFramePr>
        <p:xfrm>
          <a:off x="180961" y="1551963"/>
          <a:ext cx="11830079" cy="4993748"/>
        </p:xfrm>
        <a:graphic>
          <a:graphicData uri="http://schemas.openxmlformats.org/drawingml/2006/table">
            <a:tbl>
              <a:tblPr firstRow="1" bandRow="1">
                <a:tableStyleId>{5C22544A-7EE6-4342-B048-85BDC9FD1C3A}</a:tableStyleId>
              </a:tblPr>
              <a:tblGrid>
                <a:gridCol w="2570619">
                  <a:extLst>
                    <a:ext uri="{9D8B030D-6E8A-4147-A177-3AD203B41FA5}">
                      <a16:colId xmlns:a16="http://schemas.microsoft.com/office/drawing/2014/main" val="95366056"/>
                    </a:ext>
                  </a:extLst>
                </a:gridCol>
                <a:gridCol w="2620520">
                  <a:extLst>
                    <a:ext uri="{9D8B030D-6E8A-4147-A177-3AD203B41FA5}">
                      <a16:colId xmlns:a16="http://schemas.microsoft.com/office/drawing/2014/main" val="2325135401"/>
                    </a:ext>
                  </a:extLst>
                </a:gridCol>
                <a:gridCol w="6638940">
                  <a:extLst>
                    <a:ext uri="{9D8B030D-6E8A-4147-A177-3AD203B41FA5}">
                      <a16:colId xmlns:a16="http://schemas.microsoft.com/office/drawing/2014/main" val="2514411670"/>
                    </a:ext>
                  </a:extLst>
                </a:gridCol>
              </a:tblGrid>
              <a:tr h="45025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해시태그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연계 기능</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baseline="0" smtClean="0">
                          <a:solidFill>
                            <a:schemeClr val="bg1"/>
                          </a:solidFill>
                        </a:rPr>
                        <a:t>연계 상세 내용</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extLst>
                  <a:ext uri="{0D108BD9-81ED-4DB2-BD59-A6C34878D82A}">
                    <a16:rowId xmlns:a16="http://schemas.microsoft.com/office/drawing/2014/main" val="3357600838"/>
                  </a:ext>
                </a:extLst>
              </a:tr>
              <a:tr h="4543492">
                <a:tc>
                  <a:txBody>
                    <a:bodyPr/>
                    <a:lstStyle/>
                    <a:p>
                      <a:r>
                        <a:rPr lang="ko-KR" altLang="en-US" sz="1400" b="0">
                          <a:solidFill>
                            <a:schemeClr val="tx1"/>
                          </a:solidFill>
                        </a:rPr>
                        <a:t>#오늘의쉼표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붐빔 지수 기반 실시간 한적 성지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TourAPI 전국 축제·명소 데이터를 매일 합산해 성지별 붐빔 지수(0~100)를 계산하고, 지수가 낮은 성지를 홈 화면 '오늘의 쉼표' 섹션에서 실시간으로 추천한다.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sp>
        <p:nvSpPr>
          <p:cNvPr id="4" name="TextBox 3"/>
          <p:cNvSpPr txBox="1"/>
          <p:nvPr/>
        </p:nvSpPr>
        <p:spPr>
          <a:xfrm>
            <a:off x="174567" y="1101012"/>
            <a:ext cx="3382365" cy="307777"/>
          </a:xfrm>
          <a:prstGeom prst="rect">
            <a:avLst/>
          </a:prstGeom>
          <a:solidFill>
            <a:srgbClr val="372472"/>
          </a:solidFill>
        </p:spPr>
        <p:txBody>
          <a:bodyPr wrap="square" rtlCol="0">
            <a:spAutoFit/>
          </a:bodyPr>
          <a:lstStyle/>
          <a:p>
            <a:pPr algn="ctr"/>
            <a:r>
              <a:rPr lang="ko-KR" altLang="en-US" sz="1400" b="1" dirty="0" smtClean="0">
                <a:solidFill>
                  <a:schemeClr val="bg1"/>
                </a:solidFill>
              </a:rPr>
              <a:t>해시태그 연계 핵심기능 및 상세내용</a:t>
            </a:r>
            <a:endParaRPr lang="ko-KR" altLang="en-US" sz="1400" b="1" dirty="0">
              <a:solidFill>
                <a:schemeClr val="bg1"/>
              </a:solidFill>
            </a:endParaRPr>
          </a:p>
        </p:txBody>
      </p:sp>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r>
                        <a:rPr lang="ko-KR" altLang="en-US" sz="1400" b="0">
                          <a:solidFill>
                            <a:schemeClr val="tx1"/>
                          </a:solidFill>
                        </a:rPr>
                        <a:t>1. 홈 화면 진입 → '오늘의 쉼표' 섹션 노출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2. TourAPI 전국 축제·명소 데이터 실시간 조회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3. 성지별 붐빔 지수 계산</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4. 지수 낮은(한적한) 성지를 카드로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#오늘의쉼표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붐빔 지수 기반 실시간 한적 성지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TourAPI 전국 축제·명소 데이터를 매일 합산해 성지별 붐빔 지수(0~100)를 계산하고, 지수가 낮은 성지를 홈 화면 '오늘의 쉼표' 섹션에서 실시간으로 추천한다.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3096162552"/>
              </p:ext>
            </p:extLst>
          </p:nvPr>
        </p:nvGraphicFramePr>
        <p:xfrm>
          <a:off x="271088" y="1065401"/>
          <a:ext cx="11649825" cy="5570292"/>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785146">
                <a:tc>
                  <a:txBody>
                    <a:bodyPr/>
                    <a:lstStyle/>
                    <a:p>
                      <a:pPr algn="ctr" latinLnBrk="1"/>
                      <a:r>
                        <a:rPr lang="ko-KR" altLang="en-US" b="1" smtClean="0">
                          <a:solidFill>
                            <a:schemeClr val="bg1"/>
                          </a:solidFill>
                        </a:rPr>
                        <a:t>서비스</a:t>
                      </a:r>
                      <a:endParaRPr lang="en-US" altLang="ko-KR" b="1" smtClean="0">
                        <a:solidFill>
                          <a:schemeClr val="bg1"/>
                        </a:solidFill>
                      </a:endParaRPr>
                    </a:p>
                    <a:p>
                      <a:pPr algn="ctr" latinLnBrk="1"/>
                      <a:r>
                        <a:rPr lang="ko-KR" altLang="en-US" b="1" smtClean="0">
                          <a:solidFill>
                            <a:schemeClr val="bg1"/>
                          </a:solidFill>
                        </a:rPr>
                        <a:t>대표 이미지</a:t>
                      </a:r>
                      <a:endParaRPr lang="en-US" altLang="ko-KR" b="1" smtClean="0">
                        <a:solidFill>
                          <a:schemeClr val="bg1"/>
                        </a:solidFill>
                      </a:endParaRPr>
                    </a:p>
                    <a:p>
                      <a:pPr algn="ctr" latinLnBrk="1"/>
                      <a:r>
                        <a:rPr lang="en-US" altLang="ko-KR" b="1" smtClean="0">
                          <a:solidFill>
                            <a:schemeClr val="bg1"/>
                          </a:solidFill>
                        </a:rPr>
                        <a:t>(</a:t>
                      </a:r>
                      <a:r>
                        <a:rPr lang="ko-KR" altLang="en-US" b="1" err="1" smtClean="0">
                          <a:solidFill>
                            <a:schemeClr val="bg1"/>
                          </a:solidFill>
                        </a:rPr>
                        <a:t>썸네일</a:t>
                      </a:r>
                      <a:r>
                        <a:rPr lang="en-US" altLang="ko-KR" b="1" smtClean="0">
                          <a:solidFill>
                            <a:schemeClr val="bg1"/>
                          </a:solidFill>
                        </a:rPr>
                        <a:t>)</a:t>
                      </a:r>
                      <a:endParaRPr lang="ko-KR" altLang="en-US" b="1"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 (웹/앱 로고 또는 대표 화면 1개)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785146">
                <a:tc>
                  <a:txBody>
                    <a:bodyPr/>
                    <a:lstStyle/>
                    <a:p>
                      <a:pPr algn="ctr" latinLnBrk="1"/>
                      <a:r>
                        <a:rPr lang="ko-KR" altLang="en-US" b="1" smtClean="0">
                          <a:solidFill>
                            <a:schemeClr val="bg1"/>
                          </a:solidFill>
                        </a:rPr>
                        <a:t>서비스</a:t>
                      </a:r>
                      <a:endParaRPr lang="en-US" altLang="ko-KR" b="1" smtClean="0">
                        <a:solidFill>
                          <a:schemeClr val="bg1"/>
                        </a:solidFill>
                      </a:endParaRPr>
                    </a:p>
                    <a:p>
                      <a:pPr algn="ctr" latinLnBrk="1"/>
                      <a:r>
                        <a:rPr lang="ko-KR" altLang="en-US" b="1" smtClean="0">
                          <a:solidFill>
                            <a:schemeClr val="bg1"/>
                          </a:solidFill>
                        </a:rPr>
                        <a:t>상세 이미지</a:t>
                      </a:r>
                      <a:endParaRPr lang="en-US" altLang="ko-KR" b="1"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 (홈/탐색/성지상세/오늘의쉼표 등 주요 화면 3~5개)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99883579"/>
                  </a:ext>
                </a:extLst>
              </a:tr>
            </a:tbl>
          </a:graphicData>
        </a:graphic>
      </p:graphicFrame>
    </p:spTree>
    <p:extLst>
      <p:ext uri="{BB962C8B-B14F-4D97-AF65-F5344CB8AC3E}">
        <p14:creationId xmlns:p14="http://schemas.microsoft.com/office/powerpoint/2010/main" val="28229692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4770658" cy="307777"/>
          </a:xfrm>
          <a:prstGeom prst="rect">
            <a:avLst/>
          </a:prstGeom>
          <a:solidFill>
            <a:srgbClr val="372472"/>
          </a:solidFill>
        </p:spPr>
        <p:txBody>
          <a:bodyPr wrap="square" rtlCol="0">
            <a:spAutoFit/>
          </a:bodyPr>
          <a:lstStyle/>
          <a:p>
            <a:pPr algn="ctr"/>
            <a:r>
              <a:rPr lang="ko-KR" altLang="en-US" sz="1400" b="1">
                <a:solidFill>
                  <a:schemeClr val="bg1"/>
                </a:solidFill>
              </a:rPr>
              <a:t>서비스 개발에 활용한 한국관광공사 </a:t>
            </a:r>
            <a:r>
              <a:rPr lang="en-US" altLang="ko-KR" sz="1400" b="1">
                <a:solidFill>
                  <a:schemeClr val="bg1"/>
                </a:solidFill>
              </a:rPr>
              <a:t>OpenAPI </a:t>
            </a:r>
            <a:r>
              <a:rPr lang="ko-KR" altLang="en-US" sz="1400" b="1">
                <a:solidFill>
                  <a:schemeClr val="bg1"/>
                </a:solidFill>
              </a:rPr>
              <a:t>리스트</a:t>
            </a:r>
          </a:p>
        </p:txBody>
      </p:sp>
      <p:graphicFrame>
        <p:nvGraphicFramePr>
          <p:cNvPr id="7" name="표 6"/>
          <p:cNvGraphicFramePr>
            <a:graphicFrameLocks noGrp="1"/>
          </p:cNvGraphicFramePr>
          <p:nvPr>
            <p:extLst>
              <p:ext uri="{D42A27DB-BD31-4B8C-83A1-F6EECF244321}">
                <p14:modId xmlns:p14="http://schemas.microsoft.com/office/powerpoint/2010/main" val="3601316057"/>
              </p:ext>
            </p:extLst>
          </p:nvPr>
        </p:nvGraphicFramePr>
        <p:xfrm>
          <a:off x="174566" y="1646098"/>
          <a:ext cx="11746191" cy="3789680"/>
        </p:xfrm>
        <a:graphic>
          <a:graphicData uri="http://schemas.openxmlformats.org/drawingml/2006/table">
            <a:tbl>
              <a:tblPr firstRow="1" bandRow="1">
                <a:tableStyleId>{5C22544A-7EE6-4342-B048-85BDC9FD1C3A}</a:tableStyleId>
              </a:tblPr>
              <a:tblGrid>
                <a:gridCol w="829450">
                  <a:extLst>
                    <a:ext uri="{9D8B030D-6E8A-4147-A177-3AD203B41FA5}">
                      <a16:colId xmlns:a16="http://schemas.microsoft.com/office/drawing/2014/main" val="842166946"/>
                    </a:ext>
                  </a:extLst>
                </a:gridCol>
                <a:gridCol w="1834747">
                  <a:extLst>
                    <a:ext uri="{9D8B030D-6E8A-4147-A177-3AD203B41FA5}">
                      <a16:colId xmlns:a16="http://schemas.microsoft.com/office/drawing/2014/main" val="3903607114"/>
                    </a:ext>
                  </a:extLst>
                </a:gridCol>
                <a:gridCol w="9081994">
                  <a:extLst>
                    <a:ext uri="{9D8B030D-6E8A-4147-A177-3AD203B41FA5}">
                      <a16:colId xmlns:a16="http://schemas.microsoft.com/office/drawing/2014/main" val="2519424337"/>
                    </a:ext>
                  </a:extLst>
                </a:gridCol>
              </a:tblGrid>
              <a:tr h="370840">
                <a:tc rowSpan="2">
                  <a:txBody>
                    <a:bodyPr/>
                    <a:lstStyle/>
                    <a:p>
                      <a:pPr algn="ctr" latinLnBrk="1"/>
                      <a:r>
                        <a:rPr lang="en-US" altLang="ko-KR" sz="3200" b="1">
                          <a:solidFill>
                            <a:schemeClr val="tx1"/>
                          </a:solidFill>
                        </a:rPr>
                        <a:t>1</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위치기반 관광정보 조회서비스 (locationBasedList2)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성지 좌표 기준 반경 내 관광지 실시간 검색 — 성지 상세페이지의 '주변 정보', 감정 기반 코스 매칭의 관광지 페어링에 활용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a:solidFill>
                            <a:schemeClr val="tx1"/>
                          </a:solidFill>
                        </a:rPr>
                        <a:t>2</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지역기반 관광정보 조회서비스 (areaBasedList2)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지역 코드 기준 인기 관광지 목록 조회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a:solidFill>
                            <a:schemeClr val="tx1"/>
                          </a:solidFill>
                        </a:rPr>
                        <a:t>3</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키워드 검색 조회서비스 (searchKeyword2)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관광지명으로 좌표를 찾아 '오늘의 쉼표' 붐빔 대체 추천의 시작점으로 활용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r h="381000">
                <a:tc rowSpan="2">
                  <a:txBody>
                    <a:bodyPr/>
                    <a:lstStyle/>
                    <a:p>
                      <a:pPr algn="ctr" latinLnBrk="1"/>
                      <a:r>
                        <a:rPr lang="en-US" altLang="ko-KR" sz="3200" b="1">
                          <a:solidFill>
                            <a:schemeClr val="tx1"/>
                          </a:solidFill>
                        </a:rPr>
                        <a:t>4</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축제공연행사 조회서비스 — 성지 주변 (searchFestival2)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29229970"/>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성지 반경 10km, 오늘 이후 열리는 축제·행사를 성지 상세페이지에 실시간 표시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7204627"/>
                  </a:ext>
                </a:extLst>
              </a:tr>
              <a:tr h="381000">
                <a:tc rowSpan="2">
                  <a:txBody>
                    <a:bodyPr/>
                    <a:lstStyle/>
                    <a:p>
                      <a:pPr algn="ctr" latinLnBrk="1"/>
                      <a:r>
                        <a:rPr lang="en-US" altLang="ko-KR" sz="3200" b="1">
                          <a:solidFill>
                            <a:schemeClr val="tx1"/>
                          </a:solidFill>
                        </a:rPr>
                        <a:t>5</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축제공연행사 조회서비스 — 전국 진행중 (searchFestival2)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8013552"/>
                  </a:ext>
                </a:extLst>
              </a:tr>
              <a:tr h="381000">
                <a:tc vMerge="1">
                  <a:txBody>
                    <a:bodyPr/>
                    <a:lstStyle/>
                    <a:p>
                      <a:pPr algn="ctr" latinLnBrk="1"/>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오늘 진행 중인 전국 축제를 조회해 성지별 붐빔 지수 계산의 핵심 입력으로 사용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93688541"/>
                  </a:ext>
                </a:extLst>
              </a:tr>
            </a:tbl>
          </a:graphicData>
        </a:graphic>
      </p:graphicFrame>
    </p:spTree>
    <p:extLst>
      <p:ext uri="{BB962C8B-B14F-4D97-AF65-F5344CB8AC3E}">
        <p14:creationId xmlns:p14="http://schemas.microsoft.com/office/powerpoint/2010/main" val="22229470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1957205643"/>
              </p:ext>
            </p:extLst>
          </p:nvPr>
        </p:nvGraphicFramePr>
        <p:xfrm>
          <a:off x="287250" y="1218429"/>
          <a:ext cx="11649825" cy="5074306"/>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466075">
                <a:tc>
                  <a:txBody>
                    <a:bodyPr/>
                    <a:lstStyle/>
                    <a:p>
                      <a:pPr algn="ctr" latinLnBrk="1"/>
                      <a:r>
                        <a:rPr lang="ko-KR" altLang="en-US" b="1">
                          <a:solidFill>
                            <a:schemeClr val="bg1"/>
                          </a:solidFill>
                        </a:rPr>
                        <a:t>차별성</a:t>
                      </a:r>
                      <a:endParaRPr lang="en-US" altLang="ko-KR"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기존 오버투어리즘 대응 서비스 대다수가 '명소 A 대신 B' 단순 대체 추천에 그치는 것과 달리, 본 서비스는 성지 208곳의 전국 분산·한적함이라는 특성과 TourAPI 실시간 데이터를 결합해 '혼잡 명소를 경유하되 한적한 성지를 엮은 완결 코스'를 제안한다. 특히 축제·명소 데이터를 매일 재계산하는 '오늘의 쉼표' 붐빔 지수는 정적 추천이 아니라 그날그날 달라지는 실시간 분산 추천이라는 점에서 차별적이다.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608231">
                <a:tc>
                  <a:txBody>
                    <a:bodyPr/>
                    <a:lstStyle/>
                    <a:p>
                      <a:pPr algn="ctr" latinLnBrk="1"/>
                      <a:r>
                        <a:rPr lang="ko-KR" altLang="en-US" b="1">
                          <a:solidFill>
                            <a:schemeClr val="bg1"/>
                          </a:solidFill>
                        </a:rPr>
                        <a:t>발전계획</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① AI가 성지+TourAPI 관광지·맛집·숙박을 조합해 하루 코스를 자동 생성하는 기능 확장 ② 마음 나침반 응답을 저장해 추천을 개인화 ③ 한국천주교주교회의 주소록(5,918건) 기반 성지 주변 피정의집·미사시간 안내 확장 ④ 비신자·외국인 관점 토글과 다국어 확장 ⑤ 데이터 모델을 리팩터링해 타 종교·해외 성지로 확장 가능하도록 설계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39885689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r>
                        <a:rPr lang="ko-KR" altLang="en-US" sz="1400" b="0">
                          <a:solidFill>
                            <a:schemeClr val="tx1"/>
                          </a:solidFill>
                        </a:rPr>
                        <a:t>1. 감정 태그(위로/새출발/평온/치유/감사) 선택</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2. holy_sites에서 해당 감정 성지 후보 조회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3. 좌표 있는 성지는 TourAPI 반경 검색으로 도보권 관광지 페어링</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4. 성지+관광지 코스 카드로 조립해 노출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#쉼표순례길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감정 기반 코스 매칭</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위로/새출발/평온/치유/감사 5개 감정 중 하나를 고르면 해당 감정의 성지 후보를 조회하고, 좌표가 있는 성지는 TourAPI 반경 검색으로 도보권 관광지를 실시간 페어링해 '성지+관광지' 코스 카드로 제공한다.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r>
                        <a:rPr lang="ko-KR" altLang="en-US" sz="1400" b="0">
                          <a:solidFill>
                            <a:schemeClr val="tx1"/>
                          </a:solidFill>
                        </a:rPr>
                        <a:t>1. 마음 나침반 진입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2. 7개 질문에 순서대로 응답</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3. 응답 결과로 성지 1곳 매칭</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4. 추천 성지 상세로 이동</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#마음나침반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7문항 감정 진단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7개 질문에 답하면 지금 마음 상태에 맞는 성지 1곳을 안내한다.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r>
                        <a:rPr lang="ko-KR" altLang="en-US" sz="1400" b="0">
                          <a:solidFill>
                            <a:schemeClr val="tx1"/>
                          </a:solidFill>
                        </a:rPr>
                        <a:t>1. AI 가이드 대화창에서 질문 입력</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2. holy_sites에서 관련 레코드 최대 5건 검색</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3. Gemini에 컨텍스트+질문 전달</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4. 컨텍스트 안 내용만 응답(범위 밖이면 "모른다")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#순례가이드미카엘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성지 DB 범위 제한 AI 챗봇</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Gemini 기반 대화형 가이드가 질문과 관련된 성지 DB 레코드만 컨텍스트로 사용하며, 컨텍스트에 없는 내용은 "모른다"고 답해 종교 성지 정보의 오답을 막는다.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38217558"/>
              </p:ext>
            </p:extLst>
          </p:nvPr>
        </p:nvGraphicFramePr>
        <p:xfrm>
          <a:off x="180961" y="1551963"/>
          <a:ext cx="11830079" cy="4993748"/>
        </p:xfrm>
        <a:graphic>
          <a:graphicData uri="http://schemas.openxmlformats.org/drawingml/2006/table">
            <a:tbl>
              <a:tblPr firstRow="1" bandRow="1">
                <a:tableStyleId>{5C22544A-7EE6-4342-B048-85BDC9FD1C3A}</a:tableStyleId>
              </a:tblPr>
              <a:tblGrid>
                <a:gridCol w="2570619">
                  <a:extLst>
                    <a:ext uri="{9D8B030D-6E8A-4147-A177-3AD203B41FA5}">
                      <a16:colId xmlns:a16="http://schemas.microsoft.com/office/drawing/2014/main" val="95366056"/>
                    </a:ext>
                  </a:extLst>
                </a:gridCol>
                <a:gridCol w="2620520">
                  <a:extLst>
                    <a:ext uri="{9D8B030D-6E8A-4147-A177-3AD203B41FA5}">
                      <a16:colId xmlns:a16="http://schemas.microsoft.com/office/drawing/2014/main" val="2325135401"/>
                    </a:ext>
                  </a:extLst>
                </a:gridCol>
                <a:gridCol w="6638940">
                  <a:extLst>
                    <a:ext uri="{9D8B030D-6E8A-4147-A177-3AD203B41FA5}">
                      <a16:colId xmlns:a16="http://schemas.microsoft.com/office/drawing/2014/main" val="2514411670"/>
                    </a:ext>
                  </a:extLst>
                </a:gridCol>
              </a:tblGrid>
              <a:tr h="45025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해시태그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연계 기능</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baseline="0" smtClean="0">
                          <a:solidFill>
                            <a:schemeClr val="bg1"/>
                          </a:solidFill>
                        </a:rPr>
                        <a:t>연계 상세 내용</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extLst>
                  <a:ext uri="{0D108BD9-81ED-4DB2-BD59-A6C34878D82A}">
                    <a16:rowId xmlns:a16="http://schemas.microsoft.com/office/drawing/2014/main" val="3357600838"/>
                  </a:ext>
                </a:extLst>
              </a:tr>
              <a:tr h="4543492">
                <a:tc>
                  <a:txBody>
                    <a:bodyPr/>
                    <a:lstStyle/>
                    <a:p>
                      <a:r>
                        <a:rPr lang="ko-KR" altLang="en-US" sz="1400" b="0">
                          <a:solidFill>
                            <a:schemeClr val="tx1"/>
                          </a:solidFill>
                        </a:rPr>
                        <a:t>#쉼표순례길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감정 기반 코스 매칭</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위로/새출발/평온/치유/감사 5개 감정 중 하나를 고르면 해당 감정의 성지 후보를 조회하고, 좌표가 있는 성지는 TourAPI 반경 검색으로 도보권 관광지를 실시간 페어링해 '성지+관광지' 코스 카드로 제공한다.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sp>
        <p:nvSpPr>
          <p:cNvPr id="4" name="TextBox 3"/>
          <p:cNvSpPr txBox="1"/>
          <p:nvPr/>
        </p:nvSpPr>
        <p:spPr>
          <a:xfrm>
            <a:off x="174567" y="1101012"/>
            <a:ext cx="3382365" cy="307777"/>
          </a:xfrm>
          <a:prstGeom prst="rect">
            <a:avLst/>
          </a:prstGeom>
          <a:solidFill>
            <a:srgbClr val="372472"/>
          </a:solidFill>
        </p:spPr>
        <p:txBody>
          <a:bodyPr wrap="square" rtlCol="0">
            <a:spAutoFit/>
          </a:bodyPr>
          <a:lstStyle/>
          <a:p>
            <a:pPr algn="ctr"/>
            <a:r>
              <a:rPr lang="ko-KR" altLang="en-US" sz="1400" b="1" dirty="0" smtClean="0">
                <a:solidFill>
                  <a:schemeClr val="bg1"/>
                </a:solidFill>
              </a:rPr>
              <a:t>해시태그 연계 핵심기능 및 상세내용</a:t>
            </a:r>
            <a:endParaRPr lang="ko-KR" altLang="en-US" sz="1400" b="1" dirty="0">
              <a:solidFill>
                <a:schemeClr val="bg1"/>
              </a:solidFill>
            </a:endParaRPr>
          </a:p>
        </p:txBody>
      </p:sp>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38217558"/>
              </p:ext>
            </p:extLst>
          </p:nvPr>
        </p:nvGraphicFramePr>
        <p:xfrm>
          <a:off x="180961" y="1551963"/>
          <a:ext cx="11830079" cy="4993748"/>
        </p:xfrm>
        <a:graphic>
          <a:graphicData uri="http://schemas.openxmlformats.org/drawingml/2006/table">
            <a:tbl>
              <a:tblPr firstRow="1" bandRow="1">
                <a:tableStyleId>{5C22544A-7EE6-4342-B048-85BDC9FD1C3A}</a:tableStyleId>
              </a:tblPr>
              <a:tblGrid>
                <a:gridCol w="2570619">
                  <a:extLst>
                    <a:ext uri="{9D8B030D-6E8A-4147-A177-3AD203B41FA5}">
                      <a16:colId xmlns:a16="http://schemas.microsoft.com/office/drawing/2014/main" val="95366056"/>
                    </a:ext>
                  </a:extLst>
                </a:gridCol>
                <a:gridCol w="2620520">
                  <a:extLst>
                    <a:ext uri="{9D8B030D-6E8A-4147-A177-3AD203B41FA5}">
                      <a16:colId xmlns:a16="http://schemas.microsoft.com/office/drawing/2014/main" val="2325135401"/>
                    </a:ext>
                  </a:extLst>
                </a:gridCol>
                <a:gridCol w="6638940">
                  <a:extLst>
                    <a:ext uri="{9D8B030D-6E8A-4147-A177-3AD203B41FA5}">
                      <a16:colId xmlns:a16="http://schemas.microsoft.com/office/drawing/2014/main" val="2514411670"/>
                    </a:ext>
                  </a:extLst>
                </a:gridCol>
              </a:tblGrid>
              <a:tr h="45025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해시태그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연계 기능</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baseline="0" smtClean="0">
                          <a:solidFill>
                            <a:schemeClr val="bg1"/>
                          </a:solidFill>
                        </a:rPr>
                        <a:t>연계 상세 내용</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extLst>
                  <a:ext uri="{0D108BD9-81ED-4DB2-BD59-A6C34878D82A}">
                    <a16:rowId xmlns:a16="http://schemas.microsoft.com/office/drawing/2014/main" val="3357600838"/>
                  </a:ext>
                </a:extLst>
              </a:tr>
              <a:tr h="4543492">
                <a:tc>
                  <a:txBody>
                    <a:bodyPr/>
                    <a:lstStyle/>
                    <a:p>
                      <a:r>
                        <a:rPr lang="ko-KR" altLang="en-US" sz="1400" b="0">
                          <a:solidFill>
                            <a:schemeClr val="tx1"/>
                          </a:solidFill>
                        </a:rPr>
                        <a:t>#마음나침반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7문항 감정 진단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7개 질문에 답하면 지금 마음 상태에 맞는 성지 1곳을 안내한다.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sp>
        <p:nvSpPr>
          <p:cNvPr id="4" name="TextBox 3"/>
          <p:cNvSpPr txBox="1"/>
          <p:nvPr/>
        </p:nvSpPr>
        <p:spPr>
          <a:xfrm>
            <a:off x="174567" y="1101012"/>
            <a:ext cx="3382365" cy="307777"/>
          </a:xfrm>
          <a:prstGeom prst="rect">
            <a:avLst/>
          </a:prstGeom>
          <a:solidFill>
            <a:srgbClr val="372472"/>
          </a:solidFill>
        </p:spPr>
        <p:txBody>
          <a:bodyPr wrap="square" rtlCol="0">
            <a:spAutoFit/>
          </a:bodyPr>
          <a:lstStyle/>
          <a:p>
            <a:pPr algn="ctr"/>
            <a:r>
              <a:rPr lang="ko-KR" altLang="en-US" sz="1400" b="1" dirty="0" smtClean="0">
                <a:solidFill>
                  <a:schemeClr val="bg1"/>
                </a:solidFill>
              </a:rPr>
              <a:t>해시태그 연계 핵심기능 및 상세내용</a:t>
            </a:r>
            <a:endParaRPr lang="ko-KR" altLang="en-US" sz="1400" b="1" dirty="0">
              <a:solidFill>
                <a:schemeClr val="bg1"/>
              </a:solidFill>
            </a:endParaRPr>
          </a:p>
        </p:txBody>
      </p:sp>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38217558"/>
              </p:ext>
            </p:extLst>
          </p:nvPr>
        </p:nvGraphicFramePr>
        <p:xfrm>
          <a:off x="180961" y="1551963"/>
          <a:ext cx="11830079" cy="4993748"/>
        </p:xfrm>
        <a:graphic>
          <a:graphicData uri="http://schemas.openxmlformats.org/drawingml/2006/table">
            <a:tbl>
              <a:tblPr firstRow="1" bandRow="1">
                <a:tableStyleId>{5C22544A-7EE6-4342-B048-85BDC9FD1C3A}</a:tableStyleId>
              </a:tblPr>
              <a:tblGrid>
                <a:gridCol w="2570619">
                  <a:extLst>
                    <a:ext uri="{9D8B030D-6E8A-4147-A177-3AD203B41FA5}">
                      <a16:colId xmlns:a16="http://schemas.microsoft.com/office/drawing/2014/main" val="95366056"/>
                    </a:ext>
                  </a:extLst>
                </a:gridCol>
                <a:gridCol w="2620520">
                  <a:extLst>
                    <a:ext uri="{9D8B030D-6E8A-4147-A177-3AD203B41FA5}">
                      <a16:colId xmlns:a16="http://schemas.microsoft.com/office/drawing/2014/main" val="2325135401"/>
                    </a:ext>
                  </a:extLst>
                </a:gridCol>
                <a:gridCol w="6638940">
                  <a:extLst>
                    <a:ext uri="{9D8B030D-6E8A-4147-A177-3AD203B41FA5}">
                      <a16:colId xmlns:a16="http://schemas.microsoft.com/office/drawing/2014/main" val="2514411670"/>
                    </a:ext>
                  </a:extLst>
                </a:gridCol>
              </a:tblGrid>
              <a:tr h="45025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해시태그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연계 기능</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baseline="0" smtClean="0">
                          <a:solidFill>
                            <a:schemeClr val="bg1"/>
                          </a:solidFill>
                        </a:rPr>
                        <a:t>연계 상세 내용</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extLst>
                  <a:ext uri="{0D108BD9-81ED-4DB2-BD59-A6C34878D82A}">
                    <a16:rowId xmlns:a16="http://schemas.microsoft.com/office/drawing/2014/main" val="3357600838"/>
                  </a:ext>
                </a:extLst>
              </a:tr>
              <a:tr h="4543492">
                <a:tc>
                  <a:txBody>
                    <a:bodyPr/>
                    <a:lstStyle/>
                    <a:p>
                      <a:r>
                        <a:rPr lang="ko-KR" altLang="en-US" sz="1400" b="0">
                          <a:solidFill>
                            <a:schemeClr val="tx1"/>
                          </a:solidFill>
                        </a:rPr>
                        <a:t>#순례가이드미카엘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성지 DB 범위 제한 AI 챗봇</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Gemini 기반 대화형 가이드가 질문과 관련된 성지 DB 레코드만 컨텍스트로 사용하며, 컨텍스트에 없는 내용은 "모른다"고 답해 종교 성지 정보의 오답을 막는다.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sp>
        <p:nvSpPr>
          <p:cNvPr id="4" name="TextBox 3"/>
          <p:cNvSpPr txBox="1"/>
          <p:nvPr/>
        </p:nvSpPr>
        <p:spPr>
          <a:xfrm>
            <a:off x="174567" y="1101012"/>
            <a:ext cx="3382365" cy="307777"/>
          </a:xfrm>
          <a:prstGeom prst="rect">
            <a:avLst/>
          </a:prstGeom>
          <a:solidFill>
            <a:srgbClr val="372472"/>
          </a:solidFill>
        </p:spPr>
        <p:txBody>
          <a:bodyPr wrap="square" rtlCol="0">
            <a:spAutoFit/>
          </a:bodyPr>
          <a:lstStyle/>
          <a:p>
            <a:pPr algn="ctr"/>
            <a:r>
              <a:rPr lang="ko-KR" altLang="en-US" sz="1400" b="1" dirty="0" smtClean="0">
                <a:solidFill>
                  <a:schemeClr val="bg1"/>
                </a:solidFill>
              </a:rPr>
              <a:t>해시태그 연계 핵심기능 및 상세내용</a:t>
            </a:r>
            <a:endParaRPr lang="ko-KR" altLang="en-US" sz="1400" b="1" dirty="0">
              <a:solidFill>
                <a:schemeClr val="bg1"/>
              </a:solidFill>
            </a:endParaRPr>
          </a:p>
        </p:txBody>
      </p:sp>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Gmarket Sans Medium" panose="020F0302020204030204"/>
        <a:ea typeface=""/>
        <a:cs typeface=""/>
        <a:font script="Jpan" typeface="游ゴシック Light"/>
        <a:font script="Hang" typeface="Gmarket Sans Medium"/>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market Sans Medium" panose="020F0502020204030204"/>
        <a:ea typeface=""/>
        <a:cs typeface=""/>
        <a:font script="Jpan" typeface="游ゴシック"/>
        <a:font script="Hang" typeface="Gmarket Sans Medium"/>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1745</TotalTime>
  <Words>706</Words>
  <Application>Microsoft Office PowerPoint</Application>
  <PresentationFormat>와이드스크린</PresentationFormat>
  <Paragraphs>127</Paragraphs>
  <Slides>9</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KTO</dc:creator>
  <cp:lastModifiedBy>USER</cp:lastModifiedBy>
  <cp:revision>103</cp:revision>
  <dcterms:created xsi:type="dcterms:W3CDTF">2026-07-07T05:25:59Z</dcterms:created>
  <dcterms:modified xsi:type="dcterms:W3CDTF">2026-08-11T04:23:23Z</dcterms:modified>
</cp:coreProperties>
</file>