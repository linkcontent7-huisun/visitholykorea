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9" r:id="rId2"/>
    <p:sldId id="258" r:id="rId3"/>
    <p:sldId id="270" r:id="rId4"/>
    <p:sldId id="267" r:id="rId5"/>
    <p:sldId id="260" r:id="rId6"/>
    <p:sldId id="271" r:id="rId16"/>
    <p:sldId id="272" r:id="rId17"/>
    <p:sldId id="273" r:id="rId18"/>
    <p:sldId id="268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9DBF"/>
    <a:srgbClr val="372472"/>
    <a:srgbClr val="BBBCDE"/>
    <a:srgbClr val="280A41"/>
    <a:srgbClr val="230A3A"/>
    <a:srgbClr val="401AC1"/>
    <a:srgbClr val="200D45"/>
    <a:srgbClr val="FFED97"/>
    <a:srgbClr val="0000FF"/>
    <a:srgbClr val="FF6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46070" cy="680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해시태그 연계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46070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관련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46070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82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0796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27017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36544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15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1" r:id="rId3"/>
    <p:sldLayoutId id="2147483666" r:id="rId4"/>
    <p:sldLayoutId id="2147483662" r:id="rId5"/>
    <p:sldLayoutId id="2147483663" r:id="rId6"/>
    <p:sldLayoutId id="2147483664" r:id="rId7"/>
    <p:sldLayoutId id="2147483668" r:id="rId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401AC1"/>
            </a:gs>
            <a:gs pos="100000">
              <a:srgbClr val="280A41"/>
            </a:gs>
            <a:gs pos="75000">
              <a:srgbClr val="230A3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898654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>
                          <a:solidFill>
                            <a:schemeClr val="bg1"/>
                          </a:solidFill>
                        </a:rPr>
                        <a:t>팀 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800" b="0">
                          <a:solidFill>
                            <a:srgbClr val="000000"/>
                          </a:solidFill>
                        </a:rPr>
                        <a:t>visitholykorea</a:t>
                      </a:r>
                      <a:endParaRPr lang="ko-KR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B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800" b="0">
                          <a:solidFill>
                            <a:srgbClr val="000000"/>
                          </a:solidFill>
                        </a:rPr>
                        <a:t>VisitHolyKorea (한국 천주교 성지순례)</a:t>
                      </a:r>
                      <a:endParaRPr lang="ko-KR" altLang="en-US" sz="24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BBC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378647"/>
              </p:ext>
            </p:extLst>
          </p:nvPr>
        </p:nvGraphicFramePr>
        <p:xfrm>
          <a:off x="271088" y="1065402"/>
          <a:ext cx="11649825" cy="5654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893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VisitHolyKorea (visitholykorea.com)</a:t>
                      </a:r>
                      <a:endParaRPr lang="en-US" altLang="ko-KR" sz="1800" b="0" baseline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6255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웹 서비스 (PWA · 홈 화면 설치 지원) — 같은 코드로 Android/iOS 앱(Capacitor) 빌드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8936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 </a:t>
                      </a:r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타깃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① 붐비는 명소 대신 조용한 하루를 원하는 자유여행객·시니어(이용자 조사 응답자 85%가 50대 이상)</a:t>
                      </a:r>
                    </a:p>
                    <a:p>
                      <a:r>
                        <a:rPr sz="1300" b="0">
                          <a:solidFill>
                            <a:srgbClr val="000000"/>
                          </a:solidFill>
                        </a:rPr>
                        <a:t>② 한국 천주교 성지 순례객과 2027 서울 세계청년대회(WYD) 앞뒤로 방한하는 외국인 순례객(6개 국어)</a:t>
                      </a:r>
                    </a:p>
                    <a:p>
                      <a:r>
                        <a:rPr sz="1300" b="0">
                          <a:solidFill>
                            <a:srgbClr val="000000"/>
                          </a:solidFill>
                        </a:rPr>
                        <a:t>③ 종교와 무관하게 걷기·사색·역사 여행에 관심 있는 사람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11618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전국 천주교 성지 206곳을 "오늘 마음"에 맞춰 골라 주고, 한국관광공사 TourAPI 실시간 데이터(집중률·축제·주변 관광지·걷기길)로 하루 일정을 짜 주며, 현장에서는 6개 국어 오디오 도슨트로 안내하는 순례 여행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164922"/>
                  </a:ext>
                </a:extLst>
              </a:tr>
              <a:tr h="11618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선택 </a:t>
                      </a:r>
                      <a:r>
                        <a:rPr lang="ko-KR" altLang="en-US" b="1" err="1" smtClean="0">
                          <a:solidFill>
                            <a:schemeClr val="bg1"/>
                          </a:solidFill>
                        </a:rPr>
                        <a:t>지정과제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지정과제 2번 — 유명 관광지 쏠림(오버투어리즘) 문제 해결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  <a:tr h="8085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err="1" smtClean="0">
                          <a:solidFill>
                            <a:schemeClr val="bg1"/>
                          </a:solidFill>
                        </a:rPr>
                        <a:t>지정과제</a:t>
                      </a:r>
                      <a:endParaRPr lang="en-US" altLang="ko-KR" sz="1800" b="1" baseline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baseline="0" smtClean="0">
                          <a:solidFill>
                            <a:schemeClr val="bg1"/>
                          </a:solidFill>
                        </a:rPr>
                        <a:t>선택</a:t>
                      </a:r>
                      <a:r>
                        <a:rPr lang="en-US" altLang="ko-KR" sz="1800" b="1" baseline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1800" b="1" baseline="0" smtClean="0">
                          <a:solidFill>
                            <a:schemeClr val="bg1"/>
                          </a:solidFill>
                        </a:rPr>
                        <a:t>이유</a:t>
                      </a:r>
                      <a:endParaRPr lang="ko-KR" altLang="en-US" sz="1800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전국에 흩어진 성지 206곳은 대부분 조용하고 도심 명소·축제와 가까운 곳이 많다. 이 자원을 관광공사 실시간 데이터와 엮으면 "붐비는 곳을 피해 가는 대안"이 아니라 "붐비는 곳 옆에서 쉬어 가는 하루"를 제안할 수 있다. 성지는 관광객을 흡수할 여유가 크고, 순례라는 목적이 체류 시간을 늘리므로 분산 효과가 지속된다고 판단해 2번을 골랐다.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33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248600"/>
              </p:ext>
            </p:extLst>
          </p:nvPr>
        </p:nvGraphicFramePr>
        <p:xfrm>
          <a:off x="271088" y="1065401"/>
          <a:ext cx="11649825" cy="557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7851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baseline="0" dirty="0" err="1" smtClean="0">
                          <a:solidFill>
                            <a:schemeClr val="bg1"/>
                          </a:solidFill>
                        </a:rPr>
                        <a:t>지정과제</a:t>
                      </a:r>
                      <a:r>
                        <a:rPr lang="ko-KR" altLang="en-US" b="1" baseline="0" dirty="0" smtClean="0">
                          <a:solidFill>
                            <a:schemeClr val="bg1"/>
                          </a:solidFill>
                        </a:rPr>
                        <a:t> 기반</a:t>
                      </a:r>
                      <a:endParaRPr lang="en-US" altLang="ko-KR" b="1" baseline="0" dirty="0" smtClean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baseline="0" dirty="0" smtClean="0">
                          <a:solidFill>
                            <a:schemeClr val="bg1"/>
                          </a:solidFill>
                        </a:rPr>
                        <a:t>서비스 기획 방향</a:t>
                      </a:r>
                      <a:endParaRPr lang="en-US" altLang="ko-KR" b="1" baseline="0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 b="0">
                          <a:solidFill>
                            <a:srgbClr val="000000"/>
                          </a:solidFill>
                        </a:rPr>
                        <a:t>1) 관광공사 「관광지 집중률 예측」으로 성지 인근 시·군·구의 붐빔을 그날 기준으로 보여 주고, 사용자의 마음·출발지·시간에 맞는 조용한 성지를 고른다.</a:t>
                      </a:r>
                    </a:p>
                    <a:p>
                      <a:r>
                        <a:rPr sz="1300" b="0">
                          <a:solidFill>
                            <a:srgbClr val="000000"/>
                          </a:solidFill>
                        </a:rPr>
                        <a:t>2) 고른 성지 하나를 축으로 오전 성지 → 점심(주변 식당) → 오후(주변 관광지·걷기길)의 하루 일정을 TourAPI 실시간 조회로 짠다. 응답은 저장하지 않는다.</a:t>
                      </a:r>
                    </a:p>
                    <a:p>
                      <a:r>
                        <a:rPr sz="1300" b="0">
                          <a:solidFill>
                            <a:srgbClr val="000000"/>
                          </a:solidFill>
                        </a:rPr>
                        <a:t>3) 인근 혼잡도는 집중률 예측 0.7 + 오늘 열리는 축제(searchFestival2) 0.3 으로 조용·보통·붐빔 3단계로만 보여 준다 — 숫자 대신 문장으로, 50대 이상도 한눈에 읽히게.</a:t>
                      </a:r>
                    </a:p>
                    <a:p>
                      <a:r>
                        <a:rPr sz="1300" b="0">
                          <a:solidFill>
                            <a:srgbClr val="000000"/>
                          </a:solidFill>
                        </a:rPr>
                        <a:t>4) 현장 체류의 질을 높이는 콘텐츠 — 성지마다 직접 쓴 소개글과 지점별 오디오 도슨트(6개 국어), 성지 DB 안에서만 답하는 AI 가이드.</a:t>
                      </a:r>
                    </a:p>
                    <a:p>
                      <a:r>
                        <a:rPr sz="1300" b="0">
                          <a:solidFill>
                            <a:srgbClr val="000000"/>
                          </a:solidFill>
                        </a:rPr>
                        <a:t>5) 박해사·인물을 축으로 성지를 잇는 순례 코스로 1곳 방문을 여러 곳·여러 날로 늘린다.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7851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lang="en-US" altLang="ko-KR" b="1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목록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</a:rPr>
                        <a:t>#오늘의성지일정  #오디오도슨트  #순례가이드미카엘  #순례코스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83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284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217558"/>
              </p:ext>
            </p:extLst>
          </p:nvPr>
        </p:nvGraphicFramePr>
        <p:xfrm>
          <a:off x="180961" y="1551963"/>
          <a:ext cx="11830079" cy="4993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619">
                  <a:extLst>
                    <a:ext uri="{9D8B030D-6E8A-4147-A177-3AD203B41FA5}">
                      <a16:colId xmlns:a16="http://schemas.microsoft.com/office/drawing/2014/main" val="95366056"/>
                    </a:ext>
                  </a:extLst>
                </a:gridCol>
                <a:gridCol w="2620520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6638940">
                  <a:extLst>
                    <a:ext uri="{9D8B030D-6E8A-4147-A177-3AD203B41FA5}">
                      <a16:colId xmlns:a16="http://schemas.microsoft.com/office/drawing/2014/main" val="2514411670"/>
                    </a:ext>
                  </a:extLst>
                </a:gridCol>
              </a:tblGrid>
              <a:tr h="4502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smtClean="0">
                          <a:solidFill>
                            <a:schemeClr val="bg1"/>
                          </a:solidFill>
                        </a:rPr>
                        <a:t>연계 기능</a:t>
                      </a:r>
                      <a:endParaRPr lang="ko-KR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baseline="0" smtClean="0">
                          <a:solidFill>
                            <a:schemeClr val="bg1"/>
                          </a:solidFill>
                        </a:rPr>
                        <a:t>연계 상세 내용</a:t>
                      </a:r>
                      <a:endParaRPr lang="ko-KR" altLang="en-US" sz="1600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135873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 b="1">
                          <a:solidFill>
                            <a:srgbClr val="000000"/>
                          </a:solidFill>
                        </a:rPr>
                        <a:t>#오늘의성지일정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마음 상태로 고르는 하루 일정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6개 질문(마음 · 출발지 · 시간)에 답하면 후보 성지 3곳을 보여 주고, 하나를 고르면 오전 성지 → 점심 → 오후 관광지의 하루 일정을 짠다.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TourAPI: 집중률 예측(TatsCnctrRateService) + 오늘 축제로 "인근 지역이 조용해요/보통이에요/붐벼요" 표시, locationBasedList2 로 성지 주변 식당·관광지 실시간 조회.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시간 답(반나절·하루·1박2일)이 출발지 반경(30km·80km·전국)이 되어 이동이 체류보다 길어지지 않게 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  <a:tr h="1135873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 b="1">
                          <a:solidFill>
                            <a:srgbClr val="000000"/>
                          </a:solidFill>
                        </a:rPr>
                        <a:t>#오디오도슨트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성지 소개글 · 지점별 오디오 가이드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성지 206곳마다 3문단 소개글(순교·신앙 역사 / 위치·지리 / 건축)을 6개 국어(한·영·서·이·프·포)로 직접 집필해 DB 에 두었다.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현장 지점 원고(여는 말 → 지점 3~6곳 → 맺음말)는 108곳 작성(2026-09-20 기준), 번역 진행 중. 기기 TTS 로 읽어 주며 속도 조절·챕터 이동이 된다.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모든 원고에 출처 URL 을 붙이고, 관광공사 두루누비 걷기길·무장애 정보 등 주변 관광 콘텐츠와 나란히 보여 준다.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  <a:tr h="1135873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 b="1">
                          <a:solidFill>
                            <a:srgbClr val="000000"/>
                          </a:solidFill>
                        </a:rPr>
                        <a:t>#순례가이드미카엘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성지 DB 범위 안에서만 답하는 AI 가이드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질문과 관련된 성지 레코드(주소·전화·미사·설명)를 찾아 컨텍스트로 넣고 "자료에 없으면 모른다고 답하라"를 시스템 프롬프트에 고정했다.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Claude(Anthropic) 우선, 실패 시 Gemini 로 넘어가는 이중 구조. 사용 가능한 Gemini 모델 목록은 GitHub Actions 가 매일 갱신한다.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답변에 「참고한 성지」를 표시해 출처를 드러내고, 키는 Supabase Edge Function 에만 두어 브라우저에 노출되지 않는다.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  <a:tr h="1135873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300" b="1">
                          <a:solidFill>
                            <a:srgbClr val="000000"/>
                          </a:solidFill>
                        </a:rPr>
                        <a:t>#순례코스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200" b="0">
                          <a:solidFill>
                            <a:srgbClr val="000000"/>
                          </a:solidFill>
                        </a:rPr>
                        <a:t>박해사·인물 축 순례 코스</a:t>
                      </a:r>
                      <a:endParaRPr lang="en-US" altLang="ko-KR" sz="1800" b="0" baseline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「내포, 신앙의 못자리 길」 「내포 도보 순례길 ① 솔뫼에서 해미까지(40km)」처럼 사건·인물로 성지 4~6곳을 잇는 코스를 제공한다.</a:t>
                      </a:r>
                      <a:endParaRPr lang="en-US" altLang="ko-KR" sz="1800" b="0" baseline="0" dirty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코스와 성지 상세에서 관광공사 두루누비(Durunubi) 걷기길과 무장애 관광정보(KorWithService2)를 실시간으로 함께 보여 준다.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</a:rPr>
                        <a:t>코스 상세에서 각 성지 상세(소개글·도슨트·주변 정보)로 바로 이어진다.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74567" y="1101012"/>
            <a:ext cx="3382365" cy="307777"/>
          </a:xfrm>
          <a:prstGeom prst="rect">
            <a:avLst/>
          </a:prstGeom>
          <a:solidFill>
            <a:srgbClr val="37247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chemeClr val="bg1"/>
                </a:solidFill>
              </a:rPr>
              <a:t>해시태그 연계 핵심기능 및 상세내용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02377"/>
              </p:ext>
            </p:extLst>
          </p:nvPr>
        </p:nvGraphicFramePr>
        <p:xfrm>
          <a:off x="302952" y="2702225"/>
          <a:ext cx="11426308" cy="3781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184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90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56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1. 홈에서 「오늘의 성지 일정」을 누른다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00" b="0">
                          <a:solidFill>
                            <a:srgbClr val="000000"/>
                          </a:solidFill>
                        </a:rPr>
                        <a:t>2. 지금 마음 · 출발지 · 낼 수 있는 시간을 고른다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00" b="0">
                          <a:solidFill>
                            <a:srgbClr val="000000"/>
                          </a:solidFill>
                        </a:rPr>
                        <a:t>3. 반경 안 후보 성지 3곳 — 가까운 곳·소개가 자세한 곳 표시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00" b="0">
                          <a:solidFill>
                            <a:srgbClr val="000000"/>
                          </a:solidFill>
                        </a:rPr>
                        <a:t>4. 오전 성지 → 점심 → 오후 관광지. 집중률로 붐빔 표시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79266"/>
              </p:ext>
            </p:extLst>
          </p:nvPr>
        </p:nvGraphicFramePr>
        <p:xfrm>
          <a:off x="302952" y="1130530"/>
          <a:ext cx="114263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300" b="1">
                          <a:solidFill>
                            <a:srgbClr val="000000"/>
                          </a:solidFill>
                        </a:rPr>
                        <a:t>#오늘의성지일정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연계기능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200" b="0">
                          <a:solidFill>
                            <a:srgbClr val="000000"/>
                          </a:solidFill>
                        </a:rPr>
                        <a:t>마음 상태로 고르는 하루 일정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57432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기능설명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b="0">
                          <a:solidFill>
                            <a:srgbClr val="000000"/>
                          </a:solidFill>
                        </a:rPr>
                        <a:t>6개 질문(마음 · 출발지 · 시간)에 답하면 후보 성지 3곳을 보여 주고, 하나를 고르면 오전 성지 → 점심 → 오후 관광지의 하루 일정을 짠다. TourAPI: 집중률 예측(TatsCnctrRateService) + 오늘 축제로 "인근 지역이 조용해요/보통이에요/붐벼요" 표시, locationBasedList2 로 성지 주변 식당·관광지 실시간 조회. 시간 답(반나절·하루·1박2일)이 출발지 반경(30km·80km·전국)이 되어 이동이 체류보다 길어지지 않게 한다.</a:t>
                      </a:r>
                      <a:endParaRPr lang="en-US" altLang="ko-KR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7" name="Picture 6" descr="home-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42" y="3084071"/>
            <a:ext cx="1284597" cy="2780000"/>
          </a:xfrm>
          <a:prstGeom prst="rect">
            <a:avLst/>
          </a:prstGeom>
        </p:spPr>
      </p:pic>
      <p:pic>
        <p:nvPicPr>
          <p:cNvPr id="8" name="Picture 7" descr="compass-q1-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519" y="3084071"/>
            <a:ext cx="1284597" cy="2780000"/>
          </a:xfrm>
          <a:prstGeom prst="rect">
            <a:avLst/>
          </a:prstGeom>
        </p:spPr>
      </p:pic>
      <p:pic>
        <p:nvPicPr>
          <p:cNvPr id="9" name="Picture 8" descr="compass-result-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096" y="3084071"/>
            <a:ext cx="1284597" cy="2780000"/>
          </a:xfrm>
          <a:prstGeom prst="rect">
            <a:avLst/>
          </a:prstGeom>
        </p:spPr>
      </p:pic>
      <p:pic>
        <p:nvPicPr>
          <p:cNvPr id="10" name="Picture 9" descr="compass-plan-3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8673" y="3084071"/>
            <a:ext cx="1284597" cy="27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162552"/>
              </p:ext>
            </p:extLst>
          </p:nvPr>
        </p:nvGraphicFramePr>
        <p:xfrm>
          <a:off x="271088" y="1065401"/>
          <a:ext cx="11649825" cy="557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7851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smtClean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err="1" smtClean="0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smtClean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altLang="ko-KR" sz="1800" b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7851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smtClean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altLang="ko-KR" sz="1800" b="0" smtClean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883579"/>
                  </a:ext>
                </a:extLst>
              </a:tr>
            </a:tbl>
          </a:graphicData>
        </a:graphic>
      </p:graphicFrame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038" y="1365401"/>
            <a:ext cx="2185146" cy="2185146"/>
          </a:xfrm>
          <a:prstGeom prst="rect">
            <a:avLst/>
          </a:prstGeom>
        </p:spPr>
      </p:pic>
      <p:pic>
        <p:nvPicPr>
          <p:cNvPr id="5" name="Picture 4" descr="home-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766" y="3890547"/>
            <a:ext cx="1250008" cy="2705146"/>
          </a:xfrm>
          <a:prstGeom prst="rect">
            <a:avLst/>
          </a:prstGeom>
        </p:spPr>
      </p:pic>
      <p:pic>
        <p:nvPicPr>
          <p:cNvPr id="6" name="Picture 5" descr="compass-plan-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686" y="3890547"/>
            <a:ext cx="1250008" cy="2705146"/>
          </a:xfrm>
          <a:prstGeom prst="rect">
            <a:avLst/>
          </a:prstGeom>
        </p:spPr>
      </p:pic>
      <p:pic>
        <p:nvPicPr>
          <p:cNvPr id="7" name="Picture 6" descr="detail-docent-3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606" y="3890547"/>
            <a:ext cx="1250008" cy="2705146"/>
          </a:xfrm>
          <a:prstGeom prst="rect">
            <a:avLst/>
          </a:prstGeom>
        </p:spPr>
      </p:pic>
      <p:pic>
        <p:nvPicPr>
          <p:cNvPr id="8" name="Picture 7" descr="michael-39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7526" y="3890547"/>
            <a:ext cx="1250008" cy="2705146"/>
          </a:xfrm>
          <a:prstGeom prst="rect">
            <a:avLst/>
          </a:prstGeom>
        </p:spPr>
      </p:pic>
      <p:pic>
        <p:nvPicPr>
          <p:cNvPr id="9" name="Picture 8" descr="routes-39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6446" y="3890547"/>
            <a:ext cx="1250008" cy="270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4770658" cy="307777"/>
          </a:xfrm>
          <a:prstGeom prst="rect">
            <a:avLst/>
          </a:prstGeom>
          <a:solidFill>
            <a:srgbClr val="37247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</a:rPr>
              <a:t>서비스 개발에 활용한 한국관광공사 </a:t>
            </a:r>
            <a:r>
              <a:rPr lang="en-US" altLang="ko-KR" sz="1400" b="1">
                <a:solidFill>
                  <a:schemeClr val="bg1"/>
                </a:solidFill>
              </a:rPr>
              <a:t>OpenAPI </a:t>
            </a:r>
            <a:r>
              <a:rPr lang="ko-KR" altLang="en-US" sz="1400" b="1">
                <a:solidFill>
                  <a:schemeClr val="bg1"/>
                </a:solidFill>
              </a:rPr>
              <a:t>리스트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16057"/>
              </p:ext>
            </p:extLst>
          </p:nvPr>
        </p:nvGraphicFramePr>
        <p:xfrm>
          <a:off x="174566" y="1646098"/>
          <a:ext cx="11746191" cy="3789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4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34747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9081994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국문 관광정보 서비스 (KorService2)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b="0">
                          <a:solidFill>
                            <a:srgbClr val="000000"/>
                          </a:solidFill>
                        </a:rPr>
                        <a:t>locationBasedList2 로 성지 주변 관광지·식당(하루 일정 점심·오후, 성지 상세 「주변 관광」), searchFestival2 로 오늘 진행 중인 전국 축제(인근 혼잡도 산식의 30%), searchKeyword2·areaBasedList2 로 관광지 검색, ldongCode2 로 집중률 조회에 필요한 시·군·구 코드. 매 화면 진입마다 실시간 호출(staleTime 0), DB·서비스워커에 저장하지 않음.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100" b="1">
                          <a:solidFill>
                            <a:srgbClr val="000000"/>
                          </a:solidFill>
                        </a:rPr>
                        <a:t>관광지 집중률 예측 서비스 (TatsCnctrRateService)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900" b="0">
                          <a:solidFill>
                            <a:srgbClr val="000000"/>
                          </a:solidFill>
                        </a:rPr>
                        <a:t>성지 소재 시·군·구의 오늘 집중률(tatsCnctrRatedList)을 받아(혼잡도 산식의 70%) 성지 상세·하루 일정에 「인근 지역이 조용해요 / 보통이에요 / 붐벼요」로 표시. 오버투어리즘 지정과제의 핵심 지표. 코드는 하루, 집중률은 6시간 메모리에만 둔다.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100" b="1">
                          <a:solidFill>
                            <a:srgbClr val="000000"/>
                          </a:solidFill>
                        </a:rPr>
                        <a:t>두루누비 걷기길 서비스 (Durunubi)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900" b="0">
                          <a:solidFill>
                            <a:srgbClr val="000000"/>
                          </a:solidFill>
                        </a:rPr>
                        <a:t>courseList(DNWW)로 성지와 같은 시·군·구의 걷기길을 받아 성지 상세·순례 코스 상세에 「근처 걷기길」로 표시. 순례 후 도보 체류를 늘린다.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100" b="1">
                          <a:solidFill>
                            <a:srgbClr val="000000"/>
                          </a:solidFill>
                        </a:rPr>
                        <a:t>무장애 관광정보 서비스 (KorWithService2)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900" b="0">
                          <a:solidFill>
                            <a:srgbClr val="000000"/>
                          </a:solidFill>
                        </a:rPr>
                        <a:t>locationBasedList 로 성지 반경 5km 무장애 관광지를 받아 성지 상세에 표시. 시니어·휠체어 순례객(주 이용층)을 위한 동선 정보.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100" b="1">
                          <a:solidFill>
                            <a:srgbClr val="000000"/>
                          </a:solidFill>
                        </a:rPr>
                        <a:t>다국어 관광정보 서비스 (FreService2 · SpnService2)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8013552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900" b="0">
                          <a:solidFill>
                            <a:srgbClr val="000000"/>
                          </a:solidFill>
                        </a:rPr>
                        <a:t>앱 언어가 프랑스어·스페인어일 때 주변 관광지 조회를 해당 언어 서비스로 보낸다(승인된 언어만). 영어 등 미승인 언어는 국문 서비스로 안전하게 폴백.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3688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3893580" cy="307777"/>
          </a:xfrm>
          <a:prstGeom prst="rect">
            <a:avLst/>
          </a:prstGeom>
          <a:solidFill>
            <a:srgbClr val="372472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solidFill>
                  <a:schemeClr val="bg1"/>
                </a:solidFill>
              </a:rPr>
              <a:t>서비스 개발에 활용한 기타 </a:t>
            </a:r>
            <a:r>
              <a:rPr lang="en-US" altLang="ko-KR" sz="1400" b="1">
                <a:solidFill>
                  <a:schemeClr val="bg1"/>
                </a:solidFill>
              </a:rPr>
              <a:t>API, </a:t>
            </a:r>
            <a:r>
              <a:rPr lang="ko-KR" altLang="en-US" sz="1400" b="1" err="1">
                <a:solidFill>
                  <a:schemeClr val="bg1"/>
                </a:solidFill>
              </a:rPr>
              <a:t>파일데이터</a:t>
            </a:r>
            <a:endParaRPr lang="ko-KR" altLang="en-US" sz="1400" b="1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134091"/>
              </p:ext>
            </p:extLst>
          </p:nvPr>
        </p:nvGraphicFramePr>
        <p:xfrm>
          <a:off x="174566" y="1646098"/>
          <a:ext cx="11628657" cy="226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1">
                          <a:solidFill>
                            <a:srgbClr val="000000"/>
                          </a:solidFill>
                        </a:rPr>
                        <a:t>자체 구축 성지 DB (holy_sites · docent_scripts, 206곳)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b="0">
                          <a:solidFill>
                            <a:srgbClr val="000000"/>
                          </a:solidFill>
                        </a:rPr>
                        <a:t>교구 홈페이지·굿뉴스 성지 안내·현장 취재로 직접 수집한 성지 206곳의 주소·연락처·미사 시간·역사와, 성지마다 6개 국어 소개글 + 지점별 오디오 도슨트 원고. 대표 사진은 직접 촬영·교구 홍보국 제공분(출처·라이선스 표기). Supabase(PostgreSQL) 저장.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100" b="1">
                          <a:solidFill>
                            <a:srgbClr val="000000"/>
                          </a:solidFill>
                        </a:rPr>
                        <a:t>한국천주교주소록 (CBCK, catholic_directory 5,918건)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900" b="0">
                          <a:solidFill>
                            <a:srgbClr val="000000"/>
                          </a:solidFill>
                        </a:rPr>
                        <a:t>한국천주교중앙협의회 공개 주소록을 수집해 본당·피정의집·수도회 정보로 확장(주변 미사·피정 안내 예정).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1100" b="1">
                          <a:solidFill>
                            <a:srgbClr val="000000"/>
                          </a:solidFill>
                        </a:rPr>
                        <a:t>AI API — Anthropic Claude, Google Gemini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just" latinLnBrk="1"/>
                      <a:r>
                        <a:rPr sz="900" b="0">
                          <a:solidFill>
                            <a:srgbClr val="000000"/>
                          </a:solidFill>
                        </a:rPr>
                        <a:t>「순례 가이드 미카엘」 답변 생성. 성지 DB 레코드를 컨텍스트로 넣고 범위 밖 질문은 모른다고 답하도록 제한. Supabase Edge Function 에서만 호출(키 비노출).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356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205643"/>
              </p:ext>
            </p:extLst>
          </p:nvPr>
        </p:nvGraphicFramePr>
        <p:xfrm>
          <a:off x="287250" y="1218429"/>
          <a:ext cx="11649825" cy="50743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• 「대체 관광지 추천」이 아니라 「오늘의 하루 일정」 — 집중률·오늘 축제·주변 관광지를 그날 실시간으로 조합해 붐빔을 피하면서도 붐비는 곳 옆에 머물게 한다.</a:t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• 콘텐츠를 직접 만들었다 — 성지 206곳 소개글 6개 국어, 지점별 오디오 도슨트 원고, 출처 URL 을 모든 원고에 표기. 기존 관광 앱이 다루지 않는 종교 유산 층위.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• AI 가 지어내지 않는다 — 미카엘은 성지 DB 안에서만 답하고 참고한 성지를 밝힌다. 종교·역사 정보의 신뢰가 서비스의 생명이라는 판단.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• 시니어·외국인 접근성 — 큰 글자 모드, 6개 국어 UI, 기기 TTS, 홈 화면 설치(PWA), 카카오·네이버·구글 간편 로그인.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• 관광공사 데이터 원칙 준수 — TourAPI 응답을 DB·캐시에 저장하지 않고 매 요청 실시간 호출(ADR 0002 로 문서화, 코드로 강제).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>
                          <a:solidFill>
                            <a:schemeClr val="bg1"/>
                          </a:solidFill>
                        </a:rPr>
                        <a:t>발전계획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100" b="0">
                          <a:solidFill>
                            <a:srgbClr val="000000"/>
                          </a:solidFill>
                        </a:rPr>
                        <a:t>• 2026 Q4: 지점 원고 6개 국어 완성(현재 108곳 작성·번역 진행), 대표 사진 전 성지 확보(현재 102곳), 1박2일 일정(2일차) 추가.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• 2027 상반기: 2027 서울 WYD 대비 — 교구·본당 미사 시간 연동(CBCK 주소록), 순례 여권·스탬프 복원, 단체 순례 일정 공유.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• 지자체·교구 연계: 시·도 랜딩 페이지(/region/대전 등)로 지역 관광과 협업, 대전교구와 진행 중인 사진·자료 제공 모델을 다른 교구로 확장.</a:t>
                      </a:r>
                    </a:p>
                    <a:p>
                      <a:r>
                        <a:rPr sz="1100" b="0">
                          <a:solidFill>
                            <a:srgbClr val="000000"/>
                          </a:solidFill>
                        </a:rPr>
                        <a:t>• Android/iOS 스토어 출시(Capacitor 빌드), 타 종교·해외 성지로 확장 가능한 데이터 모델.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02377"/>
              </p:ext>
            </p:extLst>
          </p:nvPr>
        </p:nvGraphicFramePr>
        <p:xfrm>
          <a:off x="302952" y="2702225"/>
          <a:ext cx="11426308" cy="3781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184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90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56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1. 코스 또는 성지 찾기에서 성지를 고른다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00" b="0">
                          <a:solidFill>
                            <a:srgbClr val="000000"/>
                          </a:solidFill>
                        </a:rPr>
                        <a:t>2. 「성지 이야기」 3문단 소개글 (6개 국어)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00" b="0">
                          <a:solidFill>
                            <a:srgbClr val="000000"/>
                          </a:solidFill>
                        </a:rPr>
                        <a:t>3. 「오디오 가이드」 여는 말 → 지점 → 맺음말, 속도 조절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00" b="0">
                          <a:solidFill>
                            <a:srgbClr val="000000"/>
                          </a:solidFill>
                        </a:rPr>
                        <a:t>4. 지점마다 「눈여겨보기」와 출처. 상단 KO 버튼으로 언어 전환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79266"/>
              </p:ext>
            </p:extLst>
          </p:nvPr>
        </p:nvGraphicFramePr>
        <p:xfrm>
          <a:off x="302952" y="1130530"/>
          <a:ext cx="114263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300" b="1">
                          <a:solidFill>
                            <a:srgbClr val="000000"/>
                          </a:solidFill>
                        </a:rPr>
                        <a:t>#오디오도슨트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연계기능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200" b="0">
                          <a:solidFill>
                            <a:srgbClr val="000000"/>
                          </a:solidFill>
                        </a:rPr>
                        <a:t>성지 소개글 · 지점별 오디오 가이드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57432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기능설명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b="0">
                          <a:solidFill>
                            <a:srgbClr val="000000"/>
                          </a:solidFill>
                        </a:rPr>
                        <a:t>성지 206곳마다 3문단 소개글(순교·신앙 역사 / 위치·지리 / 건축)을 6개 국어(한·영·서·이·프·포)로 직접 집필해 DB 에 두었다. 현장 지점 원고(여는 말 → 지점 3~6곳 → 맺음말)는 108곳 작성(2026-09-20 기준), 번역 진행 중. 기기 TTS 로 읽어 주며 속도 조절·챕터 이동이 된다. 모든 원고에 출처 URL 을 붙이고, 관광공사 두루누비 걷기길·무장애 정보 등 주변 관광 콘텐츠와 나란히 보여 준다.</a:t>
                      </a:r>
                      <a:endParaRPr lang="en-US" altLang="ko-KR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7" name="Picture 6" descr="routes-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42" y="3084071"/>
            <a:ext cx="1284597" cy="2780000"/>
          </a:xfrm>
          <a:prstGeom prst="rect">
            <a:avLst/>
          </a:prstGeom>
        </p:spPr>
      </p:pic>
      <p:pic>
        <p:nvPicPr>
          <p:cNvPr id="8" name="Picture 7" descr="detail-top-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519" y="3084071"/>
            <a:ext cx="1284597" cy="2780000"/>
          </a:xfrm>
          <a:prstGeom prst="rect">
            <a:avLst/>
          </a:prstGeom>
        </p:spPr>
      </p:pic>
      <p:pic>
        <p:nvPicPr>
          <p:cNvPr id="9" name="Picture 8" descr="detail-docent-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096" y="3084071"/>
            <a:ext cx="1284597" cy="2780000"/>
          </a:xfrm>
          <a:prstGeom prst="rect">
            <a:avLst/>
          </a:prstGeom>
        </p:spPr>
      </p:pic>
      <p:pic>
        <p:nvPicPr>
          <p:cNvPr id="10" name="Picture 9" descr="detail-docent-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673" y="3084071"/>
            <a:ext cx="1284597" cy="27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02377"/>
              </p:ext>
            </p:extLst>
          </p:nvPr>
        </p:nvGraphicFramePr>
        <p:xfrm>
          <a:off x="302952" y="2702225"/>
          <a:ext cx="11426308" cy="3781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184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90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56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1. 어느 화면에서나 상단 「미카엘」 버튼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00" b="0">
                          <a:solidFill>
                            <a:srgbClr val="000000"/>
                          </a:solidFill>
                        </a:rPr>
                        <a:t>2. 질문 — 예: 공세리 성지 위치와 전화번호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00" b="0">
                          <a:solidFill>
                            <a:srgbClr val="000000"/>
                          </a:solidFill>
                        </a:rPr>
                        <a:t>3. 외국어 질문에도 같은 DB 근거로 답한다 (영어 예)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00" b="0">
                          <a:solidFill>
                            <a:srgbClr val="000000"/>
                          </a:solidFill>
                        </a:rPr>
                        <a:t>4. DB 에 없는 정보(미사 시간)는 모른다고 답하고 사무실 전화를 안내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79266"/>
              </p:ext>
            </p:extLst>
          </p:nvPr>
        </p:nvGraphicFramePr>
        <p:xfrm>
          <a:off x="302952" y="1130530"/>
          <a:ext cx="114263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300" b="1">
                          <a:solidFill>
                            <a:srgbClr val="000000"/>
                          </a:solidFill>
                        </a:rPr>
                        <a:t>#순례가이드미카엘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연계기능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200" b="0">
                          <a:solidFill>
                            <a:srgbClr val="000000"/>
                          </a:solidFill>
                        </a:rPr>
                        <a:t>성지 DB 범위 안에서만 답하는 AI 가이드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57432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기능설명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b="0">
                          <a:solidFill>
                            <a:srgbClr val="000000"/>
                          </a:solidFill>
                        </a:rPr>
                        <a:t>질문과 관련된 성지 레코드(주소·전화·미사·설명)를 찾아 컨텍스트로 넣고 "자료에 없으면 모른다고 답하라"를 시스템 프롬프트에 고정했다. Claude(Anthropic) 우선, 실패 시 Gemini 로 넘어가는 이중 구조. 사용 가능한 Gemini 모델 목록은 GitHub Actions 가 매일 갱신한다. 답변에 「참고한 성지」를 표시해 출처를 드러내고, 키는 Supabase Edge Function 에만 두어 브라우저에 노출되지 않는다.</a:t>
                      </a:r>
                      <a:endParaRPr lang="en-US" altLang="ko-KR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7" name="Picture 6" descr="home-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42" y="3084071"/>
            <a:ext cx="1284597" cy="2780000"/>
          </a:xfrm>
          <a:prstGeom prst="rect">
            <a:avLst/>
          </a:prstGeom>
        </p:spPr>
      </p:pic>
      <p:pic>
        <p:nvPicPr>
          <p:cNvPr id="8" name="Picture 7" descr="michael-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519" y="3084071"/>
            <a:ext cx="1284597" cy="2780000"/>
          </a:xfrm>
          <a:prstGeom prst="rect">
            <a:avLst/>
          </a:prstGeom>
        </p:spPr>
      </p:pic>
      <p:pic>
        <p:nvPicPr>
          <p:cNvPr id="9" name="Picture 8" descr="michael-en-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096" y="3084071"/>
            <a:ext cx="1284597" cy="2780000"/>
          </a:xfrm>
          <a:prstGeom prst="rect">
            <a:avLst/>
          </a:prstGeom>
        </p:spPr>
      </p:pic>
      <p:pic>
        <p:nvPicPr>
          <p:cNvPr id="10" name="Picture 9" descr="michael-mass-3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8673" y="3084071"/>
            <a:ext cx="1284597" cy="278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02377"/>
              </p:ext>
            </p:extLst>
          </p:nvPr>
        </p:nvGraphicFramePr>
        <p:xfrm>
          <a:off x="302952" y="2702225"/>
          <a:ext cx="11426308" cy="37818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  <a:gridCol w="2856577">
                  <a:extLst>
                    <a:ext uri="{9D8B030D-6E8A-4147-A177-3AD203B41FA5}">
                      <a16:colId xmlns:a16="http://schemas.microsoft.com/office/drawing/2014/main" val="1337599892"/>
                    </a:ext>
                  </a:extLst>
                </a:gridCol>
              </a:tblGrid>
              <a:tr h="321846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247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90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altLang="ko-KR" sz="1800" b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 b="0">
                          <a:solidFill>
                            <a:srgbClr val="000000"/>
                          </a:solidFill>
                        </a:rPr>
                        <a:t/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560000">
                <a:tc>
                  <a:txBody>
                    <a:bodyPr wrap="square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1000" b="0">
                          <a:solidFill>
                            <a:srgbClr val="000000"/>
                          </a:solidFill>
                        </a:rPr>
                        <a:t>1. 홈 「순례 코스」</a:t>
                      </a:r>
                      <a:endParaRPr lang="en-US" altLang="ko-KR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00" b="0">
                          <a:solidFill>
                            <a:srgbClr val="000000"/>
                          </a:solidFill>
                        </a:rPr>
                        <a:t>2. 사건·인물 축 코스 목록 (경유 성지 수·거리·시간)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00" b="0">
                          <a:solidFill>
                            <a:srgbClr val="000000"/>
                          </a:solidFill>
                        </a:rPr>
                        <a:t>3. 경유 성지 상세 — 사진·태그·인근 붐빔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 latinLnBrk="1"/>
                      <a:r>
                        <a:rPr sz="1000" b="0">
                          <a:solidFill>
                            <a:srgbClr val="000000"/>
                          </a:solidFill>
                        </a:rPr>
                        <a:t>4. 지도에서 성지 위치와 주변 걷기길·무장애 정보 확인</a:t>
                      </a:r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1979266"/>
              </p:ext>
            </p:extLst>
          </p:nvPr>
        </p:nvGraphicFramePr>
        <p:xfrm>
          <a:off x="302952" y="1130530"/>
          <a:ext cx="1142630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smtClean="0">
                          <a:solidFill>
                            <a:schemeClr val="bg1"/>
                          </a:solidFill>
                        </a:rPr>
                        <a:t>해시태그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300" b="1">
                          <a:solidFill>
                            <a:srgbClr val="000000"/>
                          </a:solidFill>
                        </a:rPr>
                        <a:t>#순례코스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연계기능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 smtClean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latinLnBrk="1"/>
                      <a:r>
                        <a:rPr sz="1200" b="0">
                          <a:solidFill>
                            <a:srgbClr val="000000"/>
                          </a:solidFill>
                        </a:rPr>
                        <a:t>박해사·인물 축 순례 코스</a:t>
                      </a:r>
                      <a:endParaRPr lang="ko-KR" alt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57432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 smtClean="0">
                          <a:solidFill>
                            <a:schemeClr val="bg1"/>
                          </a:solidFill>
                        </a:rPr>
                        <a:t>기능설명</a:t>
                      </a:r>
                      <a:r>
                        <a:rPr lang="en-US" altLang="ko-KR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9D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900" b="0">
                          <a:solidFill>
                            <a:srgbClr val="000000"/>
                          </a:solidFill>
                        </a:rPr>
                        <a:t>「내포, 신앙의 못자리 길」 「내포 도보 순례길 ① 솔뫼에서 해미까지(40km)」처럼 사건·인물로 성지 4~6곳을 잇는 코스를 제공한다. 코스와 성지 상세에서 관광공사 두루누비(Durunubi) 걷기길과 무장애 관광정보(KorWithService2)를 실시간으로 함께 보여 준다. 코스 상세에서 각 성지 상세(소개글·도슨트·주변 정보)로 바로 이어진다.</a:t>
                      </a:r>
                      <a:endParaRPr lang="en-US" altLang="ko-KR" b="0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  <p:pic>
        <p:nvPicPr>
          <p:cNvPr id="7" name="Picture 6" descr="home-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42" y="3084071"/>
            <a:ext cx="1284597" cy="2780000"/>
          </a:xfrm>
          <a:prstGeom prst="rect">
            <a:avLst/>
          </a:prstGeom>
        </p:spPr>
      </p:pic>
      <p:pic>
        <p:nvPicPr>
          <p:cNvPr id="8" name="Picture 7" descr="routes-3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519" y="3084071"/>
            <a:ext cx="1284597" cy="2780000"/>
          </a:xfrm>
          <a:prstGeom prst="rect">
            <a:avLst/>
          </a:prstGeom>
        </p:spPr>
      </p:pic>
      <p:pic>
        <p:nvPicPr>
          <p:cNvPr id="9" name="Picture 8" descr="detail-top-3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096" y="3084071"/>
            <a:ext cx="1284597" cy="2780000"/>
          </a:xfrm>
          <a:prstGeom prst="rect">
            <a:avLst/>
          </a:prstGeom>
        </p:spPr>
      </p:pic>
      <p:pic>
        <p:nvPicPr>
          <p:cNvPr id="10" name="Picture 9" descr="map-3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8673" y="3084071"/>
            <a:ext cx="1284597" cy="278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1745</TotalTime>
  <Words>706</Words>
  <Application>Microsoft Office PowerPoint</Application>
  <PresentationFormat>와이드스크린</PresentationFormat>
  <Paragraphs>127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USER</cp:lastModifiedBy>
  <cp:revision>103</cp:revision>
  <dcterms:created xsi:type="dcterms:W3CDTF">2026-07-07T05:25:59Z</dcterms:created>
  <dcterms:modified xsi:type="dcterms:W3CDTF">2026-08-11T04:23:23Z</dcterms:modified>
</cp:coreProperties>
</file>