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9" r:id="rId2"/>
    <p:sldId id="258" r:id="rId3"/>
    <p:sldId id="270" r:id="rId4"/>
    <p:sldId id="267" r:id="rId5"/>
    <p:sldId id="260" r:id="rId6"/>
    <p:sldId id="271" r:id="rId16"/>
    <p:sldId id="272" r:id="rId17"/>
    <p:sldId id="273" r:id="rId18"/>
    <p:sldId id="268" r:id="rId7"/>
    <p:sldId id="264" r:id="rId8"/>
    <p:sldId id="265" r:id="rId9"/>
    <p:sldId id="266" r:id="rId1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99DBF"/>
    <a:srgbClr val="372472"/>
    <a:srgbClr val="BBBCDE"/>
    <a:srgbClr val="280A41"/>
    <a:srgbClr val="230A3A"/>
    <a:srgbClr val="401AC1"/>
    <a:srgbClr val="200D45"/>
    <a:srgbClr val="FFED97"/>
    <a:srgbClr val="0000FF"/>
    <a:srgbClr val="FF6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1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B3549DB-4EF3-40B0-A785-8572249070D6}" type="datetimeFigureOut">
              <a:rPr lang="ko-KR" altLang="en-US" smtClean="0"/>
              <a:t>2026-08-11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E4097B3-0D7D-4E86-933F-EBF9BA5F97E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2172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710554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서비스 소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46070" cy="68017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622321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해시태그 연계 핵심 기능별 흐름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46070" cy="68208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9664904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서비스 관련 이미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46070" cy="6849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5382419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데이터 활용(한국관광공사 OpenAPI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07965" cy="6830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1228989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데이터 활용(기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27017" cy="68208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983382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서비스 차별성&amp;발전계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36544" cy="6839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924939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8FB6A-844E-4645-B6B8-D2945F9927BB}" type="datetimeFigureOut">
              <a:rPr lang="ko-KR" altLang="en-US" smtClean="0"/>
              <a:t>2026-08-11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832701-68F9-4777-ABB9-C14E97591467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491511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A38FB6A-844E-4645-B6B8-D2945F9927BB}" type="datetimeFigureOut">
              <a:rPr lang="ko-KR" altLang="en-US" smtClean="0"/>
              <a:t>2026-08-11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8832701-68F9-4777-ABB9-C14E9759146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73325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5" r:id="rId2"/>
    <p:sldLayoutId id="2147483661" r:id="rId3"/>
    <p:sldLayoutId id="2147483666" r:id="rId4"/>
    <p:sldLayoutId id="2147483662" r:id="rId5"/>
    <p:sldLayoutId id="2147483663" r:id="rId6"/>
    <p:sldLayoutId id="2147483664" r:id="rId7"/>
    <p:sldLayoutId id="2147483668" r:id="rId8"/>
  </p:sldLayoutIdLst>
  <p:timing>
    <p:tnLst>
      <p:par>
        <p:cTn id="1" dur="indefinite" restart="never" nodeType="tmRoot"/>
      </p:par>
    </p:tnLst>
  </p:timing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image" Target="../media/image13.png"/><Relationship Id="rId5" Type="http://schemas.openxmlformats.org/officeDocument/2006/relationships/image" Target="../media/image27.png"/><Relationship Id="rId6" Type="http://schemas.openxmlformats.org/officeDocument/2006/relationships/image" Target="../media/image1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401AC1"/>
            </a:gs>
            <a:gs pos="100000">
              <a:srgbClr val="280A41"/>
            </a:gs>
            <a:gs pos="75000">
              <a:srgbClr val="230A3A"/>
            </a:gs>
          </a:gsLst>
          <a:lin ang="27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9898654"/>
              </p:ext>
            </p:extLst>
          </p:nvPr>
        </p:nvGraphicFramePr>
        <p:xfrm>
          <a:off x="527397" y="4563687"/>
          <a:ext cx="6712988" cy="11122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1569">
                  <a:extLst>
                    <a:ext uri="{9D8B030D-6E8A-4147-A177-3AD203B41FA5}">
                      <a16:colId xmlns:a16="http://schemas.microsoft.com/office/drawing/2014/main" val="2581860913"/>
                    </a:ext>
                  </a:extLst>
                </a:gridCol>
                <a:gridCol w="4821419">
                  <a:extLst>
                    <a:ext uri="{9D8B030D-6E8A-4147-A177-3AD203B41FA5}">
                      <a16:colId xmlns:a16="http://schemas.microsoft.com/office/drawing/2014/main" val="1059508984"/>
                    </a:ext>
                  </a:extLst>
                </a:gridCol>
              </a:tblGrid>
              <a:tr h="54779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b="1">
                          <a:solidFill>
                            <a:schemeClr val="bg1"/>
                          </a:solidFill>
                        </a:rPr>
                        <a:t>팀 명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/>
                      <a:r>
                        <a:rPr sz="1800" b="0">
                          <a:solidFill>
                            <a:srgbClr val="000000"/>
                          </a:solidFill>
                        </a:rPr>
                        <a:t>visitholykorea</a:t>
                      </a:r>
                      <a:endParaRPr lang="ko-KR" altLang="en-US" sz="24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BBC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2559057"/>
                  </a:ext>
                </a:extLst>
              </a:tr>
              <a:tr h="5644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b="1">
                          <a:solidFill>
                            <a:schemeClr val="bg1"/>
                          </a:solidFill>
                        </a:rPr>
                        <a:t>서비스</a:t>
                      </a:r>
                      <a:r>
                        <a:rPr lang="ko-KR" altLang="en-US" sz="2400" b="1" baseline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sz="2400" b="1">
                          <a:solidFill>
                            <a:schemeClr val="bg1"/>
                          </a:solidFill>
                        </a:rPr>
                        <a:t>명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3724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/>
                      <a:r>
                        <a:rPr sz="1800" b="0">
                          <a:solidFill>
                            <a:srgbClr val="000000"/>
                          </a:solidFill>
                        </a:rPr>
                        <a:t>VisitHolyKorea — 길 위에서 나를 만나는 성지순례</a:t>
                      </a:r>
                      <a:endParaRPr lang="ko-KR" altLang="en-US" sz="24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BBBC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11698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534498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표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9378647"/>
              </p:ext>
            </p:extLst>
          </p:nvPr>
        </p:nvGraphicFramePr>
        <p:xfrm>
          <a:off x="271088" y="1065402"/>
          <a:ext cx="11649825" cy="565487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222">
                  <a:extLst>
                    <a:ext uri="{9D8B030D-6E8A-4147-A177-3AD203B41FA5}">
                      <a16:colId xmlns:a16="http://schemas.microsoft.com/office/drawing/2014/main" val="1299753452"/>
                    </a:ext>
                  </a:extLst>
                </a:gridCol>
                <a:gridCol w="9694603">
                  <a:extLst>
                    <a:ext uri="{9D8B030D-6E8A-4147-A177-3AD203B41FA5}">
                      <a16:colId xmlns:a16="http://schemas.microsoft.com/office/drawing/2014/main" val="3999346814"/>
                    </a:ext>
                  </a:extLst>
                </a:gridCol>
              </a:tblGrid>
              <a:tr h="89369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서비스명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lvl="0" indent="0" algn="just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800" b="1">
                          <a:solidFill>
                            <a:srgbClr val="000000"/>
                          </a:solidFill>
                        </a:rPr>
                        <a:t>VisitHolyKorea</a:t>
                      </a:r>
                      <a:r>
                        <a:rPr sz="1800" b="0">
                          <a:solidFill>
                            <a:srgbClr val="000000"/>
                          </a:solidFill>
                        </a:rPr>
                        <a:t> — 길 위에서 나를 만나는 성지순례  (visitholykorea.com)</a:t>
                      </a:r>
                      <a:endParaRPr lang="en-US" altLang="ko-KR" sz="1800" b="0" baseline="0" smtClean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409156"/>
                  </a:ext>
                </a:extLst>
              </a:tr>
              <a:tr h="62558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서비스 유형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lvl="0" indent="0" algn="just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000000"/>
                          </a:solidFill>
                        </a:rPr>
                        <a:t>반응형 웹</a:t>
                      </a:r>
                      <a:r>
                        <a:rPr sz="1500" b="0">
                          <a:solidFill>
                            <a:srgbClr val="000000"/>
                          </a:solidFill>
                        </a:rPr>
                        <a:t> — 휴대폰(하단 탭)과 PC(상단 메뉴)를 </a:t>
                      </a:r>
                      <a:r>
                        <a:rPr sz="1500" b="1">
                          <a:solidFill>
                            <a:srgbClr val="000000"/>
                          </a:solidFill>
                        </a:rPr>
                        <a:t>한 코드</a:t>
                      </a:r>
                      <a:r>
                        <a:rPr sz="1500" b="0">
                          <a:solidFill>
                            <a:srgbClr val="000000"/>
                          </a:solidFill>
                        </a:rPr>
                        <a:t>로, 1024px 기준 자동 전환</a:t>
                      </a:r>
                      <a:endParaRPr lang="en-US" altLang="ko-KR" sz="1800" b="0">
                        <a:solidFill>
                          <a:srgbClr val="FF0000"/>
                        </a:solidFill>
                        <a:latin typeface="+mn-lt"/>
                      </a:endParaRPr>
                    </a:p>
                    <a:p>
                      <a:r>
                        <a:rPr sz="1500" b="0">
                          <a:solidFill>
                            <a:srgbClr val="000000"/>
                          </a:solidFill>
                        </a:rPr>
                        <a:t>홈 화면 설치(PWA)로 앱처럼 실행 · 같은 코드로 Android/iOS 앱(Capacitor) 빌드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26837495"/>
                  </a:ext>
                </a:extLst>
              </a:tr>
              <a:tr h="89369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서비스 </a:t>
                      </a:r>
                      <a:r>
                        <a:rPr lang="ko-KR" altLang="en-US" b="1" smtClean="0">
                          <a:solidFill>
                            <a:schemeClr val="bg1"/>
                          </a:solidFill>
                        </a:rPr>
                        <a:t>타깃</a:t>
                      </a:r>
                      <a:endParaRPr lang="en-US" altLang="ko-KR" b="1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500" b="0">
                          <a:solidFill>
                            <a:srgbClr val="000000"/>
                          </a:solidFill>
                        </a:rPr>
                        <a:t>① 붐비는 명소 대신 </a:t>
                      </a:r>
                      <a:r>
                        <a:rPr sz="1500" b="1">
                          <a:solidFill>
                            <a:srgbClr val="000000"/>
                          </a:solidFill>
                        </a:rPr>
                        <a:t>조용한 하루</a:t>
                      </a:r>
                      <a:r>
                        <a:rPr sz="1500" b="0">
                          <a:solidFill>
                            <a:srgbClr val="000000"/>
                          </a:solidFill>
                        </a:rPr>
                        <a:t>를 원하는 자유여행객·시니어 (이용자 조사 응답자 </a:t>
                      </a:r>
                      <a:r>
                        <a:rPr sz="1500" b="1">
                          <a:solidFill>
                            <a:srgbClr val="000000"/>
                          </a:solidFill>
                        </a:rPr>
                        <a:t>85%가 50대 이상</a:t>
                      </a:r>
                      <a:r>
                        <a:rPr sz="1500" b="0">
                          <a:solidFill>
                            <a:srgbClr val="000000"/>
                          </a:solidFill>
                        </a:rPr>
                        <a:t>)</a:t>
                      </a:r>
                    </a:p>
                    <a:p>
                      <a:r>
                        <a:rPr sz="1500" b="0">
                          <a:solidFill>
                            <a:srgbClr val="000000"/>
                          </a:solidFill>
                        </a:rPr>
                        <a:t>② 한국 천주교 </a:t>
                      </a:r>
                      <a:r>
                        <a:rPr sz="1500" b="1">
                          <a:solidFill>
                            <a:srgbClr val="000000"/>
                          </a:solidFill>
                        </a:rPr>
                        <a:t>성지 순례객</a:t>
                      </a:r>
                      <a:r>
                        <a:rPr sz="1500" b="0">
                          <a:solidFill>
                            <a:srgbClr val="000000"/>
                          </a:solidFill>
                        </a:rPr>
                        <a:t>과 </a:t>
                      </a:r>
                      <a:r>
                        <a:rPr sz="1500" b="1">
                          <a:solidFill>
                            <a:srgbClr val="000000"/>
                          </a:solidFill>
                        </a:rPr>
                        <a:t>2027 서울 세계청년대회(WYD)</a:t>
                      </a:r>
                      <a:r>
                        <a:rPr sz="1500" b="0">
                          <a:solidFill>
                            <a:srgbClr val="000000"/>
                          </a:solidFill>
                        </a:rPr>
                        <a:t> 앞뒤로 방한하는 외국인 순례객 (</a:t>
                      </a:r>
                      <a:r>
                        <a:rPr sz="1500" b="1">
                          <a:solidFill>
                            <a:srgbClr val="000000"/>
                          </a:solidFill>
                        </a:rPr>
                        <a:t>6개 국어</a:t>
                      </a:r>
                      <a:r>
                        <a:rPr sz="1500" b="0">
                          <a:solidFill>
                            <a:srgbClr val="000000"/>
                          </a:solidFill>
                        </a:rPr>
                        <a:t>)</a:t>
                      </a:r>
                    </a:p>
                    <a:p>
                      <a:r>
                        <a:rPr sz="1500" b="0">
                          <a:solidFill>
                            <a:srgbClr val="000000"/>
                          </a:solidFill>
                        </a:rPr>
                        <a:t>③ 종교와 무관하게 걷기·사색·역사 여행에 관심 있는 사람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4568051"/>
                  </a:ext>
                </a:extLst>
              </a:tr>
              <a:tr h="116180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서비스 개요</a:t>
                      </a:r>
                      <a:endParaRPr lang="en-US" altLang="ko-KR" b="1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400" b="0">
                          <a:solidFill>
                            <a:srgbClr val="000000"/>
                          </a:solidFill>
                        </a:rPr>
                        <a:t>유명 성지 열 곳·주말·수도권에 몰리는 순례를 </a:t>
                      </a:r>
                      <a:r>
                        <a:rPr sz="1400" b="1">
                          <a:solidFill>
                            <a:srgbClr val="000000"/>
                          </a:solidFill>
                        </a:rPr>
                        <a:t>206곳(68% 비수도권)·30일 예측·지방 체류</a:t>
                      </a:r>
                      <a:r>
                        <a:rPr sz="1400" b="0">
                          <a:solidFill>
                            <a:srgbClr val="000000"/>
                          </a:solidFill>
                        </a:rPr>
                        <a:t>로 펼치는 서비스.</a:t>
                      </a:r>
                    </a:p>
                    <a:p>
                      <a:r>
                        <a:rPr sz="1400" b="0">
                          <a:solidFill>
                            <a:srgbClr val="000000"/>
                          </a:solidFill>
                        </a:rPr>
                        <a:t>성지 </a:t>
                      </a:r>
                      <a:r>
                        <a:rPr sz="1400" b="1">
                          <a:solidFill>
                            <a:srgbClr val="000000"/>
                          </a:solidFill>
                        </a:rPr>
                        <a:t>206곳</a:t>
                      </a:r>
                      <a:r>
                        <a:rPr sz="1400" b="0">
                          <a:solidFill>
                            <a:srgbClr val="000000"/>
                          </a:solidFill>
                        </a:rPr>
                        <a:t>을 "오늘 마음·출발지·시간"에 맞춰 골라 주고, TourAPI 데이터(</a:t>
                      </a:r>
                      <a:r>
                        <a:rPr sz="1400" b="1">
                          <a:solidFill>
                            <a:srgbClr val="000000"/>
                          </a:solidFill>
                        </a:rPr>
                        <a:t>매일 갱신되는 집중률 예측</a:t>
                      </a:r>
                      <a:r>
                        <a:rPr sz="1400" b="0">
                          <a:solidFill>
                            <a:srgbClr val="000000"/>
                          </a:solidFill>
                        </a:rPr>
                        <a:t>·주변 관광지·걷기길)를 그때그때 호출해 </a:t>
                      </a:r>
                      <a:r>
                        <a:rPr sz="1400" b="1">
                          <a:solidFill>
                            <a:srgbClr val="000000"/>
                          </a:solidFill>
                        </a:rPr>
                        <a:t>하루 일정</a:t>
                      </a:r>
                      <a:r>
                        <a:rPr sz="1400" b="0">
                          <a:solidFill>
                            <a:srgbClr val="000000"/>
                          </a:solidFill>
                        </a:rPr>
                        <a:t>을 짜며,</a:t>
                      </a:r>
                    </a:p>
                    <a:p>
                      <a:r>
                        <a:rPr sz="1400" b="0">
                          <a:solidFill>
                            <a:srgbClr val="000000"/>
                          </a:solidFill>
                        </a:rPr>
                        <a:t>현장에서는 </a:t>
                      </a:r>
                      <a:r>
                        <a:rPr sz="1400" b="1">
                          <a:solidFill>
                            <a:srgbClr val="000000"/>
                          </a:solidFill>
                        </a:rPr>
                        <a:t>6개 국어 성지 이야기와 오디오 가이드</a:t>
                      </a:r>
                      <a:r>
                        <a:rPr sz="1400" b="0">
                          <a:solidFill>
                            <a:srgbClr val="000000"/>
                          </a:solidFill>
                        </a:rPr>
                        <a:t>로 안내하고, 다녀온 </a:t>
                      </a:r>
                      <a:r>
                        <a:rPr sz="1400" b="1">
                          <a:solidFill>
                            <a:srgbClr val="000000"/>
                          </a:solidFill>
                        </a:rPr>
                        <a:t>순례 기록</a:t>
                      </a:r>
                      <a:r>
                        <a:rPr sz="1400" b="0">
                          <a:solidFill>
                            <a:srgbClr val="000000"/>
                          </a:solidFill>
                        </a:rPr>
                        <a:t>을 함께 남긴다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9164922"/>
                  </a:ext>
                </a:extLst>
              </a:tr>
              <a:tr h="116180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smtClean="0">
                          <a:solidFill>
                            <a:schemeClr val="bg1"/>
                          </a:solidFill>
                        </a:rPr>
                        <a:t>선택 </a:t>
                      </a:r>
                      <a:r>
                        <a:rPr lang="ko-KR" altLang="en-US" b="1" err="1" smtClean="0">
                          <a:solidFill>
                            <a:schemeClr val="bg1"/>
                          </a:solidFill>
                        </a:rPr>
                        <a:t>지정과제</a:t>
                      </a:r>
                      <a:endParaRPr lang="ko-KR" altLang="en-US" b="1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lvl="0" indent="0" algn="just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700" b="1">
                          <a:solidFill>
                            <a:srgbClr val="000000"/>
                          </a:solidFill>
                        </a:rPr>
                        <a:t>지정과제 2번 — 유명 관광지 쏠림(오버투어리즘) 문제 해결</a:t>
                      </a:r>
                      <a:endParaRPr lang="en-US" altLang="ko-KR" sz="1800" b="0" baseline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412154"/>
                  </a:ext>
                </a:extLst>
              </a:tr>
              <a:tr h="80855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err="1" smtClean="0">
                          <a:solidFill>
                            <a:schemeClr val="bg1"/>
                          </a:solidFill>
                        </a:rPr>
                        <a:t>지정과제</a:t>
                      </a:r>
                      <a:endParaRPr lang="en-US" altLang="ko-KR" sz="1800" b="1" baseline="0" smtClean="0">
                        <a:solidFill>
                          <a:schemeClr val="bg1"/>
                        </a:solidFill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baseline="0" smtClean="0">
                          <a:solidFill>
                            <a:schemeClr val="bg1"/>
                          </a:solidFill>
                        </a:rPr>
                        <a:t>선택</a:t>
                      </a:r>
                      <a:r>
                        <a:rPr lang="en-US" altLang="ko-KR" sz="1800" b="1" baseline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sz="1800" b="1" baseline="0" smtClean="0">
                          <a:solidFill>
                            <a:schemeClr val="bg1"/>
                          </a:solidFill>
                        </a:rPr>
                        <a:t>이유</a:t>
                      </a:r>
                      <a:endParaRPr lang="ko-KR" altLang="en-US" sz="1800" b="1" smtClean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300" b="0">
                          <a:solidFill>
                            <a:srgbClr val="000000"/>
                          </a:solidFill>
                        </a:rPr>
                        <a:t>• 성지 206곳 중 </a:t>
                      </a:r>
                      <a:r>
                        <a:rPr sz="1300" b="1">
                          <a:solidFill>
                            <a:srgbClr val="000000"/>
                          </a:solidFill>
                        </a:rPr>
                        <a:t>140곳(68%)이 비수도권</a:t>
                      </a:r>
                      <a:r>
                        <a:rPr sz="1300" b="0">
                          <a:solidFill>
                            <a:srgbClr val="000000"/>
                          </a:solidFill>
                        </a:rPr>
                        <a:t>(2026-09-21 DB 실측) — 목적지 목록 자체가 분산을 돕는다</a:t>
                      </a:r>
                    </a:p>
                    <a:p>
                      <a:r>
                        <a:rPr sz="1300" b="0">
                          <a:solidFill>
                            <a:srgbClr val="000000"/>
                          </a:solidFill>
                        </a:rPr>
                        <a:t>• 순례자는 </a:t>
                      </a:r>
                      <a:r>
                        <a:rPr sz="1300" b="1">
                          <a:solidFill>
                            <a:srgbClr val="000000"/>
                          </a:solidFill>
                        </a:rPr>
                        <a:t>목적지가 정해진 여행자</a:t>
                      </a:r>
                      <a:r>
                        <a:rPr sz="1300" b="0">
                          <a:solidFill>
                            <a:srgbClr val="000000"/>
                          </a:solidFill>
                        </a:rPr>
                        <a:t> — "명동 대신 어디"가 아니라 "명동 성당 다음엔 어디"로 물으면 동선이 바뀐다</a:t>
                      </a:r>
                    </a:p>
                    <a:p>
                      <a:r>
                        <a:rPr sz="1300" b="0">
                          <a:solidFill>
                            <a:srgbClr val="000000"/>
                          </a:solidFill>
                        </a:rPr>
                        <a:t>• 관광공사 </a:t>
                      </a:r>
                      <a:r>
                        <a:rPr sz="1300" b="1">
                          <a:solidFill>
                            <a:srgbClr val="000000"/>
                          </a:solidFill>
                        </a:rPr>
                        <a:t>집중률 30일 예측을 그때그때 호출해</a:t>
                      </a:r>
                      <a:r>
                        <a:rPr sz="1300" b="0">
                          <a:solidFill>
                            <a:srgbClr val="000000"/>
                          </a:solidFill>
                        </a:rPr>
                        <a:t> 붐비는 날·곳을 피해 </a:t>
                      </a:r>
                      <a:r>
                        <a:rPr sz="1300" b="1">
                          <a:solidFill>
                            <a:srgbClr val="000000"/>
                          </a:solidFill>
                        </a:rPr>
                        <a:t>같은 지역의 조용한 성지</a:t>
                      </a:r>
                      <a:r>
                        <a:rPr sz="1300" b="0">
                          <a:solidFill>
                            <a:srgbClr val="000000"/>
                          </a:solidFill>
                        </a:rPr>
                        <a:t>와 볼거리를 제안</a:t>
                      </a:r>
                    </a:p>
                    <a:p>
                      <a:r>
                        <a:rPr sz="1300" b="0">
                          <a:solidFill>
                            <a:srgbClr val="000000"/>
                          </a:solidFill>
                        </a:rPr>
                        <a:t>• 유명 성지 열 곳에 몰리던 순례를 </a:t>
                      </a:r>
                      <a:r>
                        <a:rPr sz="1300" b="1">
                          <a:solidFill>
                            <a:srgbClr val="000000"/>
                          </a:solidFill>
                        </a:rPr>
                        <a:t>공간(206곳)·시간(30일 예측)·체류(주변 식당·걷기길)</a:t>
                      </a:r>
                      <a:r>
                        <a:rPr sz="1300" b="0">
                          <a:solidFill>
                            <a:srgbClr val="000000"/>
                          </a:solidFill>
                        </a:rPr>
                        <a:t>로 펼친다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1335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260009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6248600"/>
              </p:ext>
            </p:extLst>
          </p:nvPr>
        </p:nvGraphicFramePr>
        <p:xfrm>
          <a:off x="271088" y="1065401"/>
          <a:ext cx="11649825" cy="55702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222">
                  <a:extLst>
                    <a:ext uri="{9D8B030D-6E8A-4147-A177-3AD203B41FA5}">
                      <a16:colId xmlns:a16="http://schemas.microsoft.com/office/drawing/2014/main" val="1299753452"/>
                    </a:ext>
                  </a:extLst>
                </a:gridCol>
                <a:gridCol w="9694603">
                  <a:extLst>
                    <a:ext uri="{9D8B030D-6E8A-4147-A177-3AD203B41FA5}">
                      <a16:colId xmlns:a16="http://schemas.microsoft.com/office/drawing/2014/main" val="3999346814"/>
                    </a:ext>
                  </a:extLst>
                </a:gridCol>
              </a:tblGrid>
              <a:tr h="278514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b="1" baseline="0" dirty="0" err="1" smtClean="0">
                          <a:solidFill>
                            <a:schemeClr val="bg1"/>
                          </a:solidFill>
                        </a:rPr>
                        <a:t>지정과제</a:t>
                      </a:r>
                      <a:r>
                        <a:rPr lang="ko-KR" altLang="en-US" b="1" baseline="0" dirty="0" smtClean="0">
                          <a:solidFill>
                            <a:schemeClr val="bg1"/>
                          </a:solidFill>
                        </a:rPr>
                        <a:t> 기반</a:t>
                      </a:r>
                      <a:endParaRPr lang="en-US" altLang="ko-KR" b="1" baseline="0" dirty="0" smtClean="0">
                        <a:solidFill>
                          <a:schemeClr val="bg1"/>
                        </a:solidFill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b="1" baseline="0" dirty="0" smtClean="0">
                          <a:solidFill>
                            <a:schemeClr val="bg1"/>
                          </a:solidFill>
                        </a:rPr>
                        <a:t>서비스 기획 방향</a:t>
                      </a:r>
                      <a:endParaRPr lang="en-US" altLang="ko-KR" b="1" baseline="0" dirty="0" smtClean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300" b="1">
                          <a:solidFill>
                            <a:srgbClr val="000000"/>
                          </a:solidFill>
                        </a:rPr>
                        <a:t>1) 문제와 범위</a:t>
                      </a:r>
                      <a:r>
                        <a:rPr sz="1300" b="0">
                          <a:solidFill>
                            <a:srgbClr val="000000"/>
                          </a:solidFill>
                        </a:rPr>
                        <a:t> — 성지 순례는 유명 성지 열 곳·주말·수도권에 몰린다. 일반 관광객이 아니라 </a:t>
                      </a:r>
                      <a:r>
                        <a:rPr sz="1300" b="1">
                          <a:solidFill>
                            <a:srgbClr val="000000"/>
                          </a:solidFill>
                        </a:rPr>
                        <a:t>순례자의 동선을 수도권 밖·붐비는 날 밖으로</a:t>
                      </a:r>
                      <a:r>
                        <a:rPr sz="1300" b="0">
                          <a:solidFill>
                            <a:srgbClr val="000000"/>
                          </a:solidFill>
                        </a:rPr>
                        <a:t> 넓히는 것이 목표. 성지 206곳 중 </a:t>
                      </a:r>
                      <a:r>
                        <a:rPr sz="1300" b="1">
                          <a:solidFill>
                            <a:srgbClr val="000000"/>
                          </a:solidFill>
                        </a:rPr>
                        <a:t>140곳(68%)이 비수도권</a:t>
                      </a:r>
                      <a:r>
                        <a:rPr sz="1300" b="0">
                          <a:solidFill>
                            <a:srgbClr val="000000"/>
                          </a:solidFill>
                        </a:rPr>
                        <a:t>.</a:t>
                      </a:r>
                    </a:p>
                    <a:p>
                      <a:r>
                        <a:rPr sz="1300" b="1">
                          <a:solidFill>
                            <a:srgbClr val="000000"/>
                          </a:solidFill>
                        </a:rPr>
                        <a:t>2) 공간 분산(어디로)</a:t>
                      </a:r>
                      <a:r>
                        <a:rPr sz="1300" b="0">
                          <a:solidFill>
                            <a:srgbClr val="000000"/>
                          </a:solidFill>
                        </a:rPr>
                        <a:t> — 관광공사 「관광지 집중률 예측」(매일 갱신)을 호출 때마다 받아(저장 안 함) 성지마다 </a:t>
                      </a:r>
                      <a:r>
                        <a:rPr sz="1300" b="1">
                          <a:solidFill>
                            <a:srgbClr val="000000"/>
                          </a:solidFill>
                        </a:rPr>
                        <a:t>「주변 밀집도 상·중·하」</a:t>
                      </a:r>
                      <a:r>
                        <a:rPr sz="1300" b="0">
                          <a:solidFill>
                            <a:srgbClr val="000000"/>
                          </a:solidFill>
                        </a:rPr>
                        <a:t>(숫자 대신 세 단계, 50대 이상도 한눈에). 「오늘의 성지 일정」은 마음·출발지·시간(질문 3개)에 맞는 가까운 후보 3곳에 </a:t>
                      </a:r>
                      <a:r>
                        <a:rPr sz="1300" b="1">
                          <a:solidFill>
                            <a:srgbClr val="000000"/>
                          </a:solidFill>
                        </a:rPr>
                        <a:t>「인근이 조용해요」 표시로 밀집도 낮은 성지를 고르게</a:t>
                      </a:r>
                      <a:r>
                        <a:rPr sz="1300" b="0">
                          <a:solidFill>
                            <a:srgbClr val="000000"/>
                          </a:solidFill>
                        </a:rPr>
                        <a:t> 하고, 오후 관광지의 당일 집중률 예측이 붐빔 등급(70 이상)이면 같은 지역의 다른 관광지를 제안.</a:t>
                      </a:r>
                    </a:p>
                    <a:p>
                      <a:r>
                        <a:rPr sz="1300" b="1">
                          <a:solidFill>
                            <a:srgbClr val="000000"/>
                          </a:solidFill>
                        </a:rPr>
                        <a:t>3) 체류(얼마나 오래)</a:t>
                      </a:r>
                      <a:r>
                        <a:rPr sz="1300" b="0">
                          <a:solidFill>
                            <a:srgbClr val="000000"/>
                          </a:solidFill>
                        </a:rPr>
                        <a:t> — 고른 성지를 축으로 </a:t>
                      </a:r>
                      <a:r>
                        <a:rPr sz="1300" b="1">
                          <a:solidFill>
                            <a:srgbClr val="000000"/>
                          </a:solidFill>
                        </a:rPr>
                        <a:t>오전 성지 → 점심(주변 식당) → 오후(주변 관광지·걷기길)</a:t>
                      </a:r>
                      <a:r>
                        <a:rPr sz="1300" b="0">
                          <a:solidFill>
                            <a:srgbClr val="000000"/>
                          </a:solidFill>
                        </a:rPr>
                        <a:t> 하루 일정을 TourAPI 를 그때그때 조회해(응답 저장 안 함). 순례 코스 11개(6개 국어)로 1곳 방문을 여러 곳·여러 날로.</a:t>
                      </a:r>
                    </a:p>
                    <a:p>
                      <a:r>
                        <a:rPr sz="1300" b="1">
                          <a:solidFill>
                            <a:srgbClr val="000000"/>
                          </a:solidFill>
                        </a:rPr>
                        <a:t>4) 현장 콘텐츠</a:t>
                      </a:r>
                      <a:r>
                        <a:rPr sz="1300" b="0">
                          <a:solidFill>
                            <a:srgbClr val="000000"/>
                          </a:solidFill>
                        </a:rPr>
                        <a:t> — 성지 206곳 소개글과 108곳 지점별 오디오 가이드를 </a:t>
                      </a:r>
                      <a:r>
                        <a:rPr sz="1300" b="1">
                          <a:solidFill>
                            <a:srgbClr val="000000"/>
                          </a:solidFill>
                        </a:rPr>
                        <a:t>6개 국어로 직접 집필</a:t>
                      </a:r>
                      <a:r>
                        <a:rPr sz="1300" b="0">
                          <a:solidFill>
                            <a:srgbClr val="000000"/>
                          </a:solidFill>
                        </a:rPr>
                        <a:t>, 성지 DB 안에서만 답하는 </a:t>
                      </a:r>
                      <a:r>
                        <a:rPr sz="1300" b="1">
                          <a:solidFill>
                            <a:srgbClr val="000000"/>
                          </a:solidFill>
                        </a:rPr>
                        <a:t>AI 가이드</a:t>
                      </a:r>
                      <a:r>
                        <a:rPr sz="1300" b="0">
                          <a:solidFill>
                            <a:srgbClr val="000000"/>
                          </a:solidFill>
                        </a:rPr>
                        <a:t> — 지방의 덜 알려진 성지도 "갈 만한 곳"으로.</a:t>
                      </a:r>
                    </a:p>
                    <a:p>
                      <a:r>
                        <a:rPr sz="1300" b="1">
                          <a:solidFill>
                            <a:srgbClr val="000000"/>
                          </a:solidFill>
                        </a:rPr>
                        <a:t>5) 시간 분산(언제)과 측정</a:t>
                      </a:r>
                      <a:r>
                        <a:rPr sz="1300" b="0">
                          <a:solidFill>
                            <a:srgbClr val="000000"/>
                          </a:solidFill>
                        </a:rPr>
                        <a:t> — 집중률 예측 30일치를 </a:t>
                      </a:r>
                      <a:r>
                        <a:rPr sz="1300" b="1">
                          <a:solidFill>
                            <a:srgbClr val="000000"/>
                          </a:solidFill>
                        </a:rPr>
                        <a:t>「한적한 날」</a:t>
                      </a:r>
                      <a:r>
                        <a:rPr sz="1300" b="0">
                          <a:solidFill>
                            <a:srgbClr val="000000"/>
                          </a:solidFill>
                        </a:rPr>
                        <a:t> 카드로 펼쳐 "주말 말고 이 날에". </a:t>
                      </a:r>
                      <a:r>
                        <a:rPr sz="1300" b="1">
                          <a:solidFill>
                            <a:srgbClr val="000000"/>
                          </a:solidFill>
                        </a:rPr>
                        <a:t>「순례 기록」</a:t>
                      </a:r>
                      <a:r>
                        <a:rPr sz="1300" b="0">
                          <a:solidFill>
                            <a:srgbClr val="000000"/>
                          </a:solidFill>
                        </a:rPr>
                        <a:t>을 서비스 중심에 두고 저장 때 </a:t>
                      </a:r>
                      <a:r>
                        <a:rPr sz="1300" b="1">
                          <a:solidFill>
                            <a:srgbClr val="000000"/>
                          </a:solidFill>
                        </a:rPr>
                        <a:t>「그날 붐볐나요?」</a:t>
                      </a:r>
                      <a:r>
                        <a:rPr sz="1300" b="0">
                          <a:solidFill>
                            <a:srgbClr val="000000"/>
                          </a:solidFill>
                        </a:rPr>
                        <a:t>를 받아 예측을 실측으로 보정할 재료를 쌓고(보정 산식은 발전계획), 기록의 성지 → 지역으로 </a:t>
                      </a:r>
                      <a:r>
                        <a:rPr sz="1300" b="1">
                          <a:solidFill>
                            <a:srgbClr val="000000"/>
                          </a:solidFill>
                        </a:rPr>
                        <a:t>비수도권 방문 비율을 측정</a:t>
                      </a:r>
                      <a:r>
                        <a:rPr sz="1300" b="0">
                          <a:solidFill>
                            <a:srgbClr val="000000"/>
                          </a:solidFill>
                        </a:rPr>
                        <a:t>.</a:t>
                      </a:r>
                    </a:p>
                    <a:p>
                      <a:r>
                        <a:rPr sz="1300" b="1">
                          <a:solidFill>
                            <a:srgbClr val="000000"/>
                          </a:solidFill>
                        </a:rPr>
                        <a:t>공고 예시 기능 대응</a:t>
                      </a:r>
                      <a:r>
                        <a:rPr sz="1300" b="0">
                          <a:solidFill>
                            <a:srgbClr val="000000"/>
                          </a:solidFill>
                        </a:rPr>
                        <a:t> — 조건 설정(출발지·시간·마음 3문항) → 대안 장소(후보 3곳 「인근이 조용해요」 + 30일 「한적한 날」) → 코스 추천(오전 성지 → 점심 → 오후, 순례 코스 11개)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409156"/>
                  </a:ext>
                </a:extLst>
              </a:tr>
              <a:tr h="278514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해시태그</a:t>
                      </a:r>
                      <a:r>
                        <a:rPr lang="en-US" altLang="ko-KR" b="1" baseline="0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목록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800" b="1">
                          <a:solidFill>
                            <a:srgbClr val="000000"/>
                          </a:solidFill>
                        </a:rPr>
                        <a:t>#오늘의성지일정  #오디오가이드  #순례가이드미카엘  #순례기록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98835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32848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표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8217558"/>
              </p:ext>
            </p:extLst>
          </p:nvPr>
        </p:nvGraphicFramePr>
        <p:xfrm>
          <a:off x="180961" y="1551963"/>
          <a:ext cx="11830079" cy="49937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0619">
                  <a:extLst>
                    <a:ext uri="{9D8B030D-6E8A-4147-A177-3AD203B41FA5}">
                      <a16:colId xmlns:a16="http://schemas.microsoft.com/office/drawing/2014/main" val="95366056"/>
                    </a:ext>
                  </a:extLst>
                </a:gridCol>
                <a:gridCol w="2620520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6638940">
                  <a:extLst>
                    <a:ext uri="{9D8B030D-6E8A-4147-A177-3AD203B41FA5}">
                      <a16:colId xmlns:a16="http://schemas.microsoft.com/office/drawing/2014/main" val="2514411670"/>
                    </a:ext>
                  </a:extLst>
                </a:gridCol>
              </a:tblGrid>
              <a:tr h="45025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b="1" smtClean="0">
                          <a:solidFill>
                            <a:schemeClr val="bg1"/>
                          </a:solidFill>
                        </a:rPr>
                        <a:t>해시태그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b="1" smtClean="0">
                          <a:solidFill>
                            <a:schemeClr val="bg1"/>
                          </a:solidFill>
                        </a:rPr>
                        <a:t>연계 기능</a:t>
                      </a:r>
                      <a:endParaRPr lang="ko-KR" altLang="en-US" sz="1600" b="1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b="1" baseline="0" smtClean="0">
                          <a:solidFill>
                            <a:schemeClr val="bg1"/>
                          </a:solidFill>
                        </a:rPr>
                        <a:t>연계 상세 내용</a:t>
                      </a:r>
                      <a:endParaRPr lang="ko-KR" altLang="en-US" sz="1600" b="1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1135873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</a:rPr>
                        <a:t>#오늘의성지일정</a:t>
                      </a:r>
                      <a:endParaRPr lang="en-US" altLang="ko-KR" sz="1800" b="0" baseline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0">
                          <a:solidFill>
                            <a:srgbClr val="000000"/>
                          </a:solidFill>
                        </a:rPr>
                        <a:t>마음 상태로 고르는 하루 일정 — 오버투어리즘 대응의 중심</a:t>
                      </a:r>
                      <a:endParaRPr lang="en-US" altLang="ko-KR" sz="1800" b="0" baseline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 b="0">
                          <a:solidFill>
                            <a:srgbClr val="000000"/>
                          </a:solidFill>
                        </a:rPr>
                        <a:t>•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질문 3개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(마음 · 출발지 · 시간) → 반경 안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후보 성지 3곳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 → 하나를 고르면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오전 성지 → 점심 → 오후 관광지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 하루 일정</a:t>
                      </a:r>
                      <a:endParaRPr lang="en-US" altLang="ko-KR" sz="1800" b="0" baseline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  <a:p>
                      <a:r>
                        <a:rPr sz="1050" b="0">
                          <a:solidFill>
                            <a:srgbClr val="000000"/>
                          </a:solidFill>
                        </a:rPr>
                        <a:t>• TourAPI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관광지 집중률 예측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으로 「인근이 조용해요」 후보 표시와 「인근 지역이 조용해요/보통이에요/붐벼요」, locationBasedList2 로 주변 식당·관광지를 그때그때 조회. 오후 관광지의 당일 집중률 예측이 붐빔 등급(70 이상)이면 성지에 더 머무르기 또는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같은 반경의 다른 관광지로 바꾸기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 제안</a:t>
                      </a:r>
                    </a:p>
                    <a:p>
                      <a:r>
                        <a:rPr sz="1050" b="0">
                          <a:solidFill>
                            <a:srgbClr val="000000"/>
                          </a:solidFill>
                        </a:rPr>
                        <a:t>• 시간 답(반나절·하루·1박2일) = 출발지 반경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20·60·180km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 — 이동이 체류보다 길어지지 않게. 성지 상세의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「주변 밀집도 상·중·하」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와 30일 예측 중 조용한 날짜를 고른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「한적한 날」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 카드 — 붐비는 날을 피하는 시간 분산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  <a:tr h="1135873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</a:rPr>
                        <a:t>#오디오가이드</a:t>
                      </a:r>
                      <a:endParaRPr lang="en-US" altLang="ko-KR" sz="1800" b="0" baseline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0">
                          <a:solidFill>
                            <a:srgbClr val="000000"/>
                          </a:solidFill>
                        </a:rPr>
                        <a:t>지방의 덜 알려진 성지를 갈 만한 곳으로 — 206곳 이야기·108곳 가이드 6개 국어</a:t>
                      </a:r>
                      <a:endParaRPr lang="en-US" altLang="ko-KR" sz="1800" b="0" baseline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 b="0">
                          <a:solidFill>
                            <a:srgbClr val="000000"/>
                          </a:solidFill>
                        </a:rPr>
                        <a:t>• 성지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206곳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 소개글(위치·역사·건축·주변 이야기 3문단)을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6개 국어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(한·영·서·프·포·이)로 직접 집필 — 2026-09-21 실측 206 × 6 완비</a:t>
                      </a:r>
                      <a:endParaRPr lang="en-US" altLang="ko-KR" sz="1800" b="0" baseline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  <a:p>
                      <a:r>
                        <a:rPr sz="1050" b="0">
                          <a:solidFill>
                            <a:srgbClr val="000000"/>
                          </a:solidFill>
                        </a:rPr>
                        <a:t>• 현장 지점 원고(여는 말 → 지점 3~6곳 → 맺음말)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108곳 × 6개 국어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. 기기 TTS 낭독·속도 조절·챕터 이동. 원고 없는 성지는 소개·역사 낭독으로 대체</a:t>
                      </a:r>
                    </a:p>
                    <a:p>
                      <a:r>
                        <a:rPr sz="1050" b="0">
                          <a:solidFill>
                            <a:srgbClr val="000000"/>
                          </a:solidFill>
                        </a:rPr>
                        <a:t>• 성지 이야기에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참고한 출처 링크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 표시(교구 공식 자료·굿뉴스 성지 안내). 두루누비 걷기길·둘러볼 곳(관광공사, 그때그때 조회)과 나란히. 지구본 버튼 하나로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화면·이야기·가이드가 함께 언어 전환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  <a:tr h="1135873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</a:rPr>
                        <a:t>#순례가이드미카엘</a:t>
                      </a:r>
                      <a:endParaRPr lang="en-US" altLang="ko-KR" sz="1800" b="0" baseline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0">
                          <a:solidFill>
                            <a:srgbClr val="000000"/>
                          </a:solidFill>
                        </a:rPr>
                        <a:t>정보가 적은 지방 성지의 주소·미사·전화를 DB 근거로 답하는 AI</a:t>
                      </a:r>
                      <a:endParaRPr lang="en-US" altLang="ko-KR" sz="1800" b="0" baseline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 b="0">
                          <a:solidFill>
                            <a:srgbClr val="000000"/>
                          </a:solidFill>
                        </a:rPr>
                        <a:t>• 어느 화면에서나 상단 「미카엘」. 질문과 관련된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성지 레코드(주소·전화·미사·설명)를 컨텍스트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로 넣고 "자료에 없으면 모른다고 답하라"를 시스템 프롬프트에 고정 —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지어내지 않는다</a:t>
                      </a:r>
                      <a:endParaRPr lang="en-US" altLang="ko-KR" sz="1800" b="0" baseline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  <a:p>
                      <a:r>
                        <a:rPr sz="1050" b="0">
                          <a:solidFill>
                            <a:srgbClr val="000000"/>
                          </a:solidFill>
                        </a:rPr>
                        <a:t>•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Claude 우선, 실패 시 Gemini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 이중 구조. Gemini 모델 목록은 GitHub Actions 가 매일 갱신. 키는 Supabase Edge Function 에만(브라우저 비노출)</a:t>
                      </a:r>
                    </a:p>
                    <a:p>
                      <a:r>
                        <a:rPr sz="1050" b="0">
                          <a:solidFill>
                            <a:srgbClr val="000000"/>
                          </a:solidFill>
                        </a:rPr>
                        <a:t>• 답변에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「참고한 성지」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 표시. 로그인하면 대화가 계정에 저장·이어짐(「대화 지우기」로 삭제).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6개 국어 질문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에 같은 DB 근거로 답한다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  <a:tr h="1135873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</a:rPr>
                        <a:t>#순례기록</a:t>
                      </a:r>
                      <a:endParaRPr lang="en-US" altLang="ko-KR" sz="1800" b="0" baseline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0">
                          <a:solidFill>
                            <a:srgbClr val="000000"/>
                          </a:solidFill>
                        </a:rPr>
                        <a:t>분산을 측정하는 기록 — 「그날 붐볐나요?」와 비수도권 방문 비율</a:t>
                      </a:r>
                      <a:endParaRPr lang="en-US" altLang="ko-KR" sz="1800" b="0" baseline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 b="0">
                          <a:solidFill>
                            <a:srgbClr val="000000"/>
                          </a:solidFill>
                        </a:rPr>
                        <a:t>• 성지 상세 「순례 기록 남기기」: 방문일 · 한 줄 메모 ·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사진 최대 3장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. 기록은 그 성지 페이지 아래에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다른 순례자의 후기로 쌓여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 「순례 기록 (N)」 — 운영자가 아니라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모두가 함께 만드는 순례 안내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. 익명 공개·신고</a:t>
                      </a:r>
                      <a:endParaRPr lang="en-US" altLang="ko-KR" sz="1800" b="0" baseline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  <a:p>
                      <a:r>
                        <a:rPr sz="1050" b="0">
                          <a:solidFill>
                            <a:srgbClr val="000000"/>
                          </a:solidFill>
                        </a:rPr>
                        <a:t>• 하단 탭 가운데 「기록」에서 내 기록·즐겨찾기 모아 보기·수정·삭제. 순례 코스는 기록 기준 「n화까지 기록」 진행. 지금은 성지당 1개 →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재방문도 기록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하도록 확장</a:t>
                      </a:r>
                    </a:p>
                    <a:p>
                      <a:r>
                        <a:rPr sz="1050" b="0">
                          <a:solidFill>
                            <a:srgbClr val="000000"/>
                          </a:solidFill>
                        </a:rPr>
                        <a:t>• 저장 때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「그날 붐볐나요?」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(한적·보통·붐빔) 한 칸 — 관광공사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예측을 실측으로 보정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하는 재료. 기록은 우리 데이터라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비수도권 방문 비율을 측정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할 수 있다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74567" y="1101012"/>
            <a:ext cx="3382365" cy="307777"/>
          </a:xfrm>
          <a:prstGeom prst="rect">
            <a:avLst/>
          </a:prstGeom>
          <a:solidFill>
            <a:srgbClr val="372472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 smtClean="0">
                <a:solidFill>
                  <a:schemeClr val="bg1"/>
                </a:solidFill>
              </a:rPr>
              <a:t>해시태그 연계 핵심기능 및 상세내용</a:t>
            </a:r>
            <a:endParaRPr lang="ko-KR" altLang="en-US" sz="14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986881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표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4402377"/>
              </p:ext>
            </p:extLst>
          </p:nvPr>
        </p:nvGraphicFramePr>
        <p:xfrm>
          <a:off x="302952" y="2702225"/>
          <a:ext cx="11426308" cy="378184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6577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337599892"/>
                    </a:ext>
                  </a:extLst>
                </a:gridCol>
              </a:tblGrid>
              <a:tr h="321846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>
                          <a:solidFill>
                            <a:schemeClr val="bg1"/>
                          </a:solidFill>
                        </a:rPr>
                        <a:t>흐름도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900000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800" b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560000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 b="0">
                          <a:solidFill>
                            <a:srgbClr val="000000"/>
                          </a:solidFill>
                        </a:rPr>
                        <a:t>1. 홈 입구 카드 「오늘의 성지 일정」</a:t>
                      </a:r>
                      <a:endParaRPr lang="en-US" altLang="ko-KR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050" b="0">
                          <a:solidFill>
                            <a:srgbClr val="000000"/>
                          </a:solidFill>
                        </a:rPr>
                        <a:t>2. 지금 마음 → 출발지(현재 위치·시도) → 낼 수 있는 시간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050" b="0">
                          <a:solidFill>
                            <a:srgbClr val="000000"/>
                          </a:solidFill>
                        </a:rPr>
                        <a:t>3. 반경 안 후보 3곳 — 가장 가까움·인근이 조용함·소개가 자세함 표시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050" b="0">
                          <a:solidFill>
                            <a:srgbClr val="000000"/>
                          </a:solidFill>
                        </a:rPr>
                        <a:t>4. 성지 상세 「한적한 날」 — 30일 예측 중 조용한 날짜. 일정 결과는 오전 성지 → 점심 → 오후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6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1979266"/>
              </p:ext>
            </p:extLst>
          </p:nvPr>
        </p:nvGraphicFramePr>
        <p:xfrm>
          <a:off x="302952" y="1130530"/>
          <a:ext cx="1142630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182880"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400" b="1">
                          <a:solidFill>
                            <a:srgbClr val="FFFFFF"/>
                          </a:solidFill>
                        </a:rPr>
                        <a:t>해시태그1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/>
                      <a:r>
                        <a:rPr sz="1400" b="1">
                          <a:solidFill>
                            <a:srgbClr val="000000"/>
                          </a:solidFill>
                        </a:rPr>
                        <a:t>#오늘의성지일정</a:t>
                      </a:r>
                      <a:endParaRPr lang="ko-KR" altLang="en-US" b="0" i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182880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400" b="1">
                          <a:solidFill>
                            <a:srgbClr val="FFFFFF"/>
                          </a:solidFill>
                        </a:rPr>
                        <a:t>연계기능1</a:t>
                      </a:r>
                      <a:endParaRPr lang="ko-KR" altLang="en-US" b="1" dirty="0" smtClean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/>
                      <a:r>
                        <a:rPr sz="1300" b="0">
                          <a:solidFill>
                            <a:srgbClr val="000000"/>
                          </a:solidFill>
                        </a:rPr>
                        <a:t>마음 상태로 고르는 하루 일정 — 오버투어리즘 대응의 중심</a:t>
                      </a:r>
                      <a:endParaRPr lang="ko-KR" altLang="en-US" b="0" i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1657432"/>
                  </a:ext>
                </a:extLst>
              </a:tr>
              <a:tr h="236913"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400" b="1">
                          <a:solidFill>
                            <a:srgbClr val="FFFFFF"/>
                          </a:solidFill>
                        </a:rPr>
                        <a:t>기능설명1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950" b="1">
                          <a:solidFill>
                            <a:srgbClr val="000000"/>
                          </a:solidFill>
                        </a:rPr>
                        <a:t>질문 3개</a:t>
                      </a:r>
                      <a:r>
                        <a:rPr sz="950" b="0">
                          <a:solidFill>
                            <a:srgbClr val="000000"/>
                          </a:solidFill>
                        </a:rPr>
                        <a:t>(마음 · 출발지 · 시간) → 반경 안 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후보 성지 3곳</a:t>
                      </a:r>
                      <a:r>
                        <a:rPr sz="950" b="0">
                          <a:solidFill>
                            <a:srgbClr val="000000"/>
                          </a:solidFill>
                        </a:rPr>
                        <a:t> → 하나를 고르면 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오전 성지 → 점심 → 오후 관광지</a:t>
                      </a:r>
                      <a:r>
                        <a:rPr sz="950" b="0">
                          <a:solidFill>
                            <a:srgbClr val="000000"/>
                          </a:solidFill>
                        </a:rPr>
                        <a:t> 하루 일정 TourAPI 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관광지 집중률 예측</a:t>
                      </a:r>
                      <a:r>
                        <a:rPr sz="950" b="0">
                          <a:solidFill>
                            <a:srgbClr val="000000"/>
                          </a:solidFill>
                        </a:rPr>
                        <a:t>으로 「인근이 조용해요」 후보 표시와 「인근 지역이 조용해요/보통이에요/붐벼요」, locationBasedList2 로 주변 식당·관광지를 그때그때 조회. 오후 관광지의 당일 집중률 예측이 붐빔 등급(70 이상)이면 성지에 더 머무르기 또는 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같은 반경의 다른 관광지로 바꾸기</a:t>
                      </a:r>
                      <a:r>
                        <a:rPr sz="950" b="0">
                          <a:solidFill>
                            <a:srgbClr val="000000"/>
                          </a:solidFill>
                        </a:rPr>
                        <a:t> 제안 시간 답(반나절·하루·1박2일) = 출발지 반경 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20·60·180km</a:t>
                      </a:r>
                      <a:r>
                        <a:rPr sz="950" b="0">
                          <a:solidFill>
                            <a:srgbClr val="000000"/>
                          </a:solidFill>
                        </a:rPr>
                        <a:t> — 이동이 체류보다 길어지지 않게. 성지 상세의 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「주변 밀집도 상·중·하」</a:t>
                      </a:r>
                      <a:r>
                        <a:rPr sz="950" b="0">
                          <a:solidFill>
                            <a:srgbClr val="000000"/>
                          </a:solidFill>
                        </a:rPr>
                        <a:t>와 30일 예측 중 조용한 날짜를 고른 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「한적한 날」</a:t>
                      </a:r>
                      <a:r>
                        <a:rPr sz="950" b="0">
                          <a:solidFill>
                            <a:srgbClr val="000000"/>
                          </a:solidFill>
                        </a:rPr>
                        <a:t> 카드 — 붐비는 날을 피하는 시간 분산</a:t>
                      </a:r>
                      <a:endParaRPr lang="en-US" altLang="ko-KR" b="0" dirty="0" smtClean="0">
                        <a:solidFill>
                          <a:srgbClr val="FF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  <p:pic>
        <p:nvPicPr>
          <p:cNvPr id="7" name="Picture 6" descr="home-3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942" y="3084071"/>
            <a:ext cx="1284597" cy="2780000"/>
          </a:xfrm>
          <a:prstGeom prst="rect">
            <a:avLst/>
          </a:prstGeom>
        </p:spPr>
      </p:pic>
      <p:pic>
        <p:nvPicPr>
          <p:cNvPr id="8" name="Picture 7" descr="compass-q1-39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45519" y="3084071"/>
            <a:ext cx="1284597" cy="2780000"/>
          </a:xfrm>
          <a:prstGeom prst="rect">
            <a:avLst/>
          </a:prstGeom>
        </p:spPr>
      </p:pic>
      <p:pic>
        <p:nvPicPr>
          <p:cNvPr id="9" name="Picture 8" descr="compass-result-39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2096" y="3084071"/>
            <a:ext cx="1284597" cy="2780000"/>
          </a:xfrm>
          <a:prstGeom prst="rect">
            <a:avLst/>
          </a:prstGeom>
        </p:spPr>
      </p:pic>
      <p:pic>
        <p:nvPicPr>
          <p:cNvPr id="10" name="Picture 9" descr="detail-quietdays-39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58673" y="3084071"/>
            <a:ext cx="1284597" cy="27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194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표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96162552"/>
              </p:ext>
            </p:extLst>
          </p:nvPr>
        </p:nvGraphicFramePr>
        <p:xfrm>
          <a:off x="271088" y="1065401"/>
          <a:ext cx="11649825" cy="55702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222">
                  <a:extLst>
                    <a:ext uri="{9D8B030D-6E8A-4147-A177-3AD203B41FA5}">
                      <a16:colId xmlns:a16="http://schemas.microsoft.com/office/drawing/2014/main" val="1299753452"/>
                    </a:ext>
                  </a:extLst>
                </a:gridCol>
                <a:gridCol w="9694603">
                  <a:extLst>
                    <a:ext uri="{9D8B030D-6E8A-4147-A177-3AD203B41FA5}">
                      <a16:colId xmlns:a16="http://schemas.microsoft.com/office/drawing/2014/main" val="3999346814"/>
                    </a:ext>
                  </a:extLst>
                </a:gridCol>
              </a:tblGrid>
              <a:tr h="278514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smtClean="0">
                          <a:solidFill>
                            <a:schemeClr val="bg1"/>
                          </a:solidFill>
                        </a:rPr>
                        <a:t>서비스</a:t>
                      </a:r>
                      <a:endParaRPr lang="en-US" altLang="ko-KR" b="1" smtClean="0">
                        <a:solidFill>
                          <a:schemeClr val="bg1"/>
                        </a:solidFill>
                      </a:endParaRPr>
                    </a:p>
                    <a:p>
                      <a:pPr algn="ctr" latinLnBrk="1"/>
                      <a:r>
                        <a:rPr lang="ko-KR" altLang="en-US" b="1" smtClean="0">
                          <a:solidFill>
                            <a:schemeClr val="bg1"/>
                          </a:solidFill>
                        </a:rPr>
                        <a:t>대표 이미지</a:t>
                      </a:r>
                      <a:endParaRPr lang="en-US" altLang="ko-KR" b="1" smtClean="0">
                        <a:solidFill>
                          <a:schemeClr val="bg1"/>
                        </a:solidFill>
                      </a:endParaRPr>
                    </a:p>
                    <a:p>
                      <a:pPr algn="ctr" latinLnBrk="1"/>
                      <a:r>
                        <a:rPr lang="en-US" altLang="ko-KR" b="1" smtClean="0">
                          <a:solidFill>
                            <a:schemeClr val="bg1"/>
                          </a:solidFill>
                        </a:rPr>
                        <a:t>(</a:t>
                      </a:r>
                      <a:r>
                        <a:rPr lang="ko-KR" altLang="en-US" b="1" err="1" smtClean="0">
                          <a:solidFill>
                            <a:schemeClr val="bg1"/>
                          </a:solidFill>
                        </a:rPr>
                        <a:t>썸네일</a:t>
                      </a:r>
                      <a:r>
                        <a:rPr lang="en-US" altLang="ko-KR" b="1" smtClean="0">
                          <a:solidFill>
                            <a:schemeClr val="bg1"/>
                          </a:solidFill>
                        </a:rPr>
                        <a:t>)</a:t>
                      </a:r>
                      <a:endParaRPr lang="ko-KR" altLang="en-US" b="1" smtClean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800" b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409156"/>
                  </a:ext>
                </a:extLst>
              </a:tr>
              <a:tr h="278514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smtClean="0">
                          <a:solidFill>
                            <a:schemeClr val="bg1"/>
                          </a:solidFill>
                        </a:rPr>
                        <a:t>서비스</a:t>
                      </a:r>
                      <a:endParaRPr lang="en-US" altLang="ko-KR" b="1" smtClean="0">
                        <a:solidFill>
                          <a:schemeClr val="bg1"/>
                        </a:solidFill>
                      </a:endParaRPr>
                    </a:p>
                    <a:p>
                      <a:pPr algn="ctr" latinLnBrk="1"/>
                      <a:r>
                        <a:rPr lang="ko-KR" altLang="en-US" b="1" smtClean="0">
                          <a:solidFill>
                            <a:schemeClr val="bg1"/>
                          </a:solidFill>
                        </a:rPr>
                        <a:t>상세 이미지</a:t>
                      </a:r>
                      <a:endParaRPr lang="en-US" altLang="ko-KR" b="1" smtClean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800" b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9883579"/>
                  </a:ext>
                </a:extLst>
              </a:tr>
            </a:tbl>
          </a:graphicData>
        </a:graphic>
      </p:graphicFrame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1038" y="1365401"/>
            <a:ext cx="2185146" cy="2185146"/>
          </a:xfrm>
          <a:prstGeom prst="rect">
            <a:avLst/>
          </a:prstGeom>
        </p:spPr>
      </p:pic>
      <p:pic>
        <p:nvPicPr>
          <p:cNvPr id="5" name="Picture 4" descr="detail-desktop-144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28209" y="3890547"/>
            <a:ext cx="4328233" cy="2705146"/>
          </a:xfrm>
          <a:prstGeom prst="rect">
            <a:avLst/>
          </a:prstGeom>
        </p:spPr>
      </p:pic>
      <p:pic>
        <p:nvPicPr>
          <p:cNvPr id="6" name="Picture 5" descr="detail-top-39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0432" y="3890547"/>
            <a:ext cx="1250008" cy="2705146"/>
          </a:xfrm>
          <a:prstGeom prst="rect">
            <a:avLst/>
          </a:prstGeom>
        </p:spPr>
      </p:pic>
      <p:pic>
        <p:nvPicPr>
          <p:cNvPr id="7" name="Picture 6" descr="compass-plan-39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14622" y="3890547"/>
            <a:ext cx="1250008" cy="2705146"/>
          </a:xfrm>
          <a:prstGeom prst="rect">
            <a:avLst/>
          </a:prstGeom>
        </p:spPr>
      </p:pic>
      <p:pic>
        <p:nvPicPr>
          <p:cNvPr id="8" name="Picture 7" descr="michael-39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68812" y="3890547"/>
            <a:ext cx="1250008" cy="27051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29692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74567" y="1101012"/>
            <a:ext cx="4770658" cy="307777"/>
          </a:xfrm>
          <a:prstGeom prst="rect">
            <a:avLst/>
          </a:prstGeom>
          <a:solidFill>
            <a:srgbClr val="372472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chemeClr val="bg1"/>
                </a:solidFill>
              </a:rPr>
              <a:t>서비스 개발에 활용한 한국관광공사 </a:t>
            </a:r>
            <a:r>
              <a:rPr lang="en-US" altLang="ko-KR" sz="1400" b="1">
                <a:solidFill>
                  <a:schemeClr val="bg1"/>
                </a:solidFill>
              </a:rPr>
              <a:t>OpenAPI </a:t>
            </a:r>
            <a:r>
              <a:rPr lang="ko-KR" altLang="en-US" sz="1400" b="1">
                <a:solidFill>
                  <a:schemeClr val="bg1"/>
                </a:solidFill>
              </a:rPr>
              <a:t>리스트</a:t>
            </a: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1316057"/>
              </p:ext>
            </p:extLst>
          </p:nvPr>
        </p:nvGraphicFramePr>
        <p:xfrm>
          <a:off x="174566" y="1646098"/>
          <a:ext cx="11746191" cy="3789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9450">
                  <a:extLst>
                    <a:ext uri="{9D8B030D-6E8A-4147-A177-3AD203B41FA5}">
                      <a16:colId xmlns:a16="http://schemas.microsoft.com/office/drawing/2014/main" val="842166946"/>
                    </a:ext>
                  </a:extLst>
                </a:gridCol>
                <a:gridCol w="1834747">
                  <a:extLst>
                    <a:ext uri="{9D8B030D-6E8A-4147-A177-3AD203B41FA5}">
                      <a16:colId xmlns:a16="http://schemas.microsoft.com/office/drawing/2014/main" val="3903607114"/>
                    </a:ext>
                  </a:extLst>
                </a:gridCol>
                <a:gridCol w="9081994">
                  <a:extLst>
                    <a:ext uri="{9D8B030D-6E8A-4147-A177-3AD203B41FA5}">
                      <a16:colId xmlns:a16="http://schemas.microsoft.com/office/drawing/2014/main" val="2519424337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3200" b="1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</a:rPr>
                        <a:t>관광지 집중률 예측 서비스 (TatsCnctrRateService) — 핵심 지표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77720883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상세설명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 b="0">
                          <a:solidFill>
                            <a:srgbClr val="000000"/>
                          </a:solidFill>
                        </a:rPr>
                        <a:t>성지 소재 시·군·구의 집중률 예측(오늘부터 30일)을 받아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「주변 밀집도 상·중·하」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(성지 상세),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「인근이 조용해요」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(일정 후보),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「한적한 날」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(30일 중 조용한 날짜)에 쓴다. 메모리에만 잠깐 두고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저장하지 않는다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522436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3200" b="1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just" latinLnBrk="1"/>
                      <a:r>
                        <a:rPr sz="1200" b="1">
                          <a:solidFill>
                            <a:srgbClr val="000000"/>
                          </a:solidFill>
                        </a:rPr>
                        <a:t>국문 관광정보 서비스 (KorService2)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58026807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상세설명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just" latinLnBrk="1"/>
                      <a:r>
                        <a:rPr sz="1050" b="0">
                          <a:solidFill>
                            <a:srgbClr val="000000"/>
                          </a:solidFill>
                        </a:rPr>
                        <a:t>locationBasedList2 로 성지 주변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관광지·식당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을 받아 성지 상세 「둘러볼 곳」(걸어갈 1km, 비면 3km)과 하루 일정의 점심·오후(반경 5km, 붐빌 예정이면 같은 풀의 다음 후보로 대안)를 채우고, ldongCode2 로 집중률 조회에 필요한 시·군·구 코드를 받는다.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실시간 호출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(응답은 화면 메모리에서만 잠시 유지), DB·서비스워커에 저장하지 않음.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851369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3200" b="1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just" latinLnBrk="1"/>
                      <a:r>
                        <a:rPr sz="1200" b="1">
                          <a:solidFill>
                            <a:srgbClr val="000000"/>
                          </a:solidFill>
                        </a:rPr>
                        <a:t>영문 관광정보 서비스 (EngService2)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7554315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3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상세설명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just" latinLnBrk="1"/>
                      <a:r>
                        <a:rPr sz="1050" b="0">
                          <a:solidFill>
                            <a:srgbClr val="000000"/>
                          </a:solidFill>
                        </a:rPr>
                        <a:t>앱 언어가 영어·포르투갈어·이탈리아어일 때 주변 관광지를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영문 서비스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의 locationBasedList2 로 조회 — 2027 WYD 외국인 순례객이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읽을 수 있는 주변 정보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. 결과가 비면 국문으로 폴백.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0228473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3200" b="1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just" latinLnBrk="1"/>
                      <a:r>
                        <a:rPr sz="1200" b="1">
                          <a:solidFill>
                            <a:srgbClr val="000000"/>
                          </a:solidFill>
                        </a:rPr>
                        <a:t>서어·불어 관광정보 서비스 (SpnService2 · FreService2)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29229970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3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상세설명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just" latinLnBrk="1"/>
                      <a:r>
                        <a:rPr sz="1050" b="0">
                          <a:solidFill>
                            <a:srgbClr val="000000"/>
                          </a:solidFill>
                        </a:rPr>
                        <a:t>앱 언어가 스페인어·프랑스어일 때 같은 조회를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그 언어 서비스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로 보낸다(WYD 참가국이 많은 중남미·프랑스어권). 결과가 비면 국문으로 폴백.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67204627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3200" b="1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just" latinLnBrk="1"/>
                      <a:r>
                        <a:rPr sz="1200" b="1">
                          <a:solidFill>
                            <a:srgbClr val="000000"/>
                          </a:solidFill>
                        </a:rPr>
                        <a:t>두루누비 걷기길 서비스 (Durunubi)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8013552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상세설명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just" latinLnBrk="1"/>
                      <a:r>
                        <a:rPr sz="1050" b="0">
                          <a:solidFill>
                            <a:srgbClr val="000000"/>
                          </a:solidFill>
                        </a:rPr>
                        <a:t>courseList(DNWW)로 성지와 같은 시·군·구의 걷기길을 받아 성지 상세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「이 근처 걷기길」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로 표시 — 순례 후 도보 체류를 늘린다.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368854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229470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74567" y="1101012"/>
            <a:ext cx="3893580" cy="307777"/>
          </a:xfrm>
          <a:prstGeom prst="rect">
            <a:avLst/>
          </a:prstGeom>
          <a:solidFill>
            <a:srgbClr val="372472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chemeClr val="bg1"/>
                </a:solidFill>
              </a:rPr>
              <a:t>서비스 개발에 활용한 기타 </a:t>
            </a:r>
            <a:r>
              <a:rPr lang="en-US" altLang="ko-KR" sz="1400" b="1">
                <a:solidFill>
                  <a:schemeClr val="bg1"/>
                </a:solidFill>
              </a:rPr>
              <a:t>API, </a:t>
            </a:r>
            <a:r>
              <a:rPr lang="ko-KR" altLang="en-US" sz="1400" b="1" err="1">
                <a:solidFill>
                  <a:schemeClr val="bg1"/>
                </a:solidFill>
              </a:rPr>
              <a:t>파일데이터</a:t>
            </a:r>
            <a:endParaRPr lang="ko-KR" altLang="en-US" sz="1400" b="1">
              <a:solidFill>
                <a:schemeClr val="bg1"/>
              </a:solidFill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26134091"/>
              </p:ext>
            </p:extLst>
          </p:nvPr>
        </p:nvGraphicFramePr>
        <p:xfrm>
          <a:off x="174566" y="1646098"/>
          <a:ext cx="11628657" cy="2265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1150">
                  <a:extLst>
                    <a:ext uri="{9D8B030D-6E8A-4147-A177-3AD203B41FA5}">
                      <a16:colId xmlns:a16="http://schemas.microsoft.com/office/drawing/2014/main" val="842166946"/>
                    </a:ext>
                  </a:extLst>
                </a:gridCol>
                <a:gridCol w="1816388">
                  <a:extLst>
                    <a:ext uri="{9D8B030D-6E8A-4147-A177-3AD203B41FA5}">
                      <a16:colId xmlns:a16="http://schemas.microsoft.com/office/drawing/2014/main" val="3903607114"/>
                    </a:ext>
                  </a:extLst>
                </a:gridCol>
                <a:gridCol w="8991119">
                  <a:extLst>
                    <a:ext uri="{9D8B030D-6E8A-4147-A177-3AD203B41FA5}">
                      <a16:colId xmlns:a16="http://schemas.microsoft.com/office/drawing/2014/main" val="2519424337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3200" b="1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err="1">
                          <a:solidFill>
                            <a:schemeClr val="bg1"/>
                          </a:solidFill>
                        </a:rPr>
                        <a:t>데이터명</a:t>
                      </a:r>
                      <a:endParaRPr lang="ko-KR" altLang="en-US" b="1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</a:rPr>
                        <a:t>자체 구축 성지 DB (holy_sites · holy_site_translations · docent_scripts, 206곳)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77720883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상세설명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 b="0">
                          <a:solidFill>
                            <a:srgbClr val="000000"/>
                          </a:solidFill>
                        </a:rPr>
                        <a:t>각 교구 홈페이지·굿뉴스 성지 안내·가톨릭 언론의 공개 자료와 현장에서 수집한 주보·안내문을 대조해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직접 쓴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 성지 206곳의 주소·연락처·미사 시간·역사. 성지마다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6개 국어 소개글(206×6)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과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지점별 오디오 가이드(108×6)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. 대전교구 성지는 교구 홍보국 제공 자료 참고. 성지 이야기에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출처 링크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 표시. 대표 사진은 직접 촬영·대전교구 제공·위키미디어 커먼즈(CC)·국가유산청(공공누리) — 라이선스가 요구하는 것은 화면에 출처 표기. Supabase(PostgreSQL).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522436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3200" b="1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err="1">
                          <a:solidFill>
                            <a:schemeClr val="bg1"/>
                          </a:solidFill>
                        </a:rPr>
                        <a:t>데이터명</a:t>
                      </a:r>
                      <a:endParaRPr lang="ko-KR" altLang="en-US" b="1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just" latinLnBrk="1"/>
                      <a:r>
                        <a:rPr sz="1200" b="1">
                          <a:solidFill>
                            <a:srgbClr val="000000"/>
                          </a:solidFill>
                        </a:rPr>
                        <a:t>한국천주교주소록 (CBCK, catholic_directory 5,918건)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58026807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상세설명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just" latinLnBrk="1"/>
                      <a:r>
                        <a:rPr sz="1050" b="0">
                          <a:solidFill>
                            <a:srgbClr val="000000"/>
                          </a:solidFill>
                        </a:rPr>
                        <a:t>한국천주교중앙협의회 공개 주소록 → 성지 상세·시도 화면의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「주변 성당·공소」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(가까운 미사). 외국어 화면은 자동 로마자.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851369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3200" b="1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err="1">
                          <a:solidFill>
                            <a:schemeClr val="bg1"/>
                          </a:solidFill>
                        </a:rPr>
                        <a:t>데이터명</a:t>
                      </a:r>
                      <a:endParaRPr lang="ko-KR" altLang="en-US" b="1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just" latinLnBrk="1"/>
                      <a:r>
                        <a:rPr sz="1200" b="1">
                          <a:solidFill>
                            <a:srgbClr val="000000"/>
                          </a:solidFill>
                        </a:rPr>
                        <a:t>순례 기록 (pilgrimage_stamps · 이용자 생성)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7554315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3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상세설명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just" latinLnBrk="1"/>
                      <a:r>
                        <a:rPr sz="1050" b="0">
                          <a:solidFill>
                            <a:srgbClr val="000000"/>
                          </a:solidFill>
                        </a:rPr>
                        <a:t>방문일 · 한 줄 · 사진 3장 ·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그날 붐볐나요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. 우리 데이터라 분석 가능 —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비수도권 방문 비율 측정, 집중률 예측 보정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의 재료.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022847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773564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표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57205643"/>
              </p:ext>
            </p:extLst>
          </p:nvPr>
        </p:nvGraphicFramePr>
        <p:xfrm>
          <a:off x="287250" y="1218429"/>
          <a:ext cx="11649825" cy="50743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222">
                  <a:extLst>
                    <a:ext uri="{9D8B030D-6E8A-4147-A177-3AD203B41FA5}">
                      <a16:colId xmlns:a16="http://schemas.microsoft.com/office/drawing/2014/main" val="1299753452"/>
                    </a:ext>
                  </a:extLst>
                </a:gridCol>
                <a:gridCol w="9694603">
                  <a:extLst>
                    <a:ext uri="{9D8B030D-6E8A-4147-A177-3AD203B41FA5}">
                      <a16:colId xmlns:a16="http://schemas.microsoft.com/office/drawing/2014/main" val="3999346814"/>
                    </a:ext>
                  </a:extLst>
                </a:gridCol>
              </a:tblGrid>
              <a:tr h="246607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차별성</a:t>
                      </a:r>
                      <a:endParaRPr lang="en-US" altLang="ko-KR" b="1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lvl="0" indent="0" algn="just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0">
                          <a:solidFill>
                            <a:srgbClr val="000000"/>
                          </a:solidFill>
                        </a:rPr>
                        <a:t>• </a:t>
                      </a:r>
                      <a:r>
                        <a:rPr sz="1400" b="1">
                          <a:solidFill>
                            <a:srgbClr val="000000"/>
                          </a:solidFill>
                        </a:rPr>
                        <a:t>「대체 관광지 추천」이 아니라 「오늘의 하루 일정」 + 「한적한 날」</a:t>
                      </a:r>
                      <a:r>
                        <a:rPr sz="1400" b="0">
                          <a:solidFill>
                            <a:srgbClr val="000000"/>
                          </a:solidFill>
                        </a:rPr>
                        <a:t> — 집중률 예측(일 단위, 30일치)을 조합해 </a:t>
                      </a:r>
                      <a:r>
                        <a:rPr sz="1400" b="1">
                          <a:solidFill>
                            <a:srgbClr val="000000"/>
                          </a:solidFill>
                        </a:rPr>
                        <a:t>붐비는 곳과 붐비는 날을 모두 피하면서 그 지역에 머물게</a:t>
                      </a:r>
                      <a:r>
                        <a:rPr sz="1400" b="0">
                          <a:solidFill>
                            <a:srgbClr val="000000"/>
                          </a:solidFill>
                        </a:rPr>
                        <a:t> 한다. 성지 </a:t>
                      </a:r>
                      <a:r>
                        <a:rPr sz="1400" b="1">
                          <a:solidFill>
                            <a:srgbClr val="000000"/>
                          </a:solidFill>
                        </a:rPr>
                        <a:t>68%(140/206)가 비수도권</a:t>
                      </a:r>
                      <a:r>
                        <a:rPr sz="1400" b="0">
                          <a:solidFill>
                            <a:srgbClr val="000000"/>
                          </a:solidFill>
                        </a:rPr>
                        <a:t>이라 분산이 구조적으로 일어난다</a:t>
                      </a:r>
                      <a:endParaRPr lang="en-US" altLang="ko-KR" sz="1800" b="0">
                        <a:solidFill>
                          <a:srgbClr val="FF0000"/>
                        </a:solidFill>
                        <a:latin typeface="+mn-lt"/>
                      </a:endParaRPr>
                    </a:p>
                    <a:p>
                      <a:r>
                        <a:rPr sz="1400" b="0">
                          <a:solidFill>
                            <a:srgbClr val="000000"/>
                          </a:solidFill>
                        </a:rPr>
                        <a:t>• </a:t>
                      </a:r>
                      <a:r>
                        <a:rPr sz="1400" b="1">
                          <a:solidFill>
                            <a:srgbClr val="000000"/>
                          </a:solidFill>
                        </a:rPr>
                        <a:t>콘텐츠를 직접 만들었다</a:t>
                      </a:r>
                      <a:r>
                        <a:rPr sz="1400" b="0">
                          <a:solidFill>
                            <a:srgbClr val="000000"/>
                          </a:solidFill>
                        </a:rPr>
                        <a:t> — 성지 206곳 소개글과 108곳 오디오 가이드를 6개 국어로, 성지 이야기에 출처 링크. 기존 관광 앱이 다루지 않는 </a:t>
                      </a:r>
                      <a:r>
                        <a:rPr sz="1400" b="1">
                          <a:solidFill>
                            <a:srgbClr val="000000"/>
                          </a:solidFill>
                        </a:rPr>
                        <a:t>종교 유산 층위</a:t>
                      </a:r>
                    </a:p>
                    <a:p>
                      <a:r>
                        <a:rPr sz="1400" b="0">
                          <a:solidFill>
                            <a:srgbClr val="000000"/>
                          </a:solidFill>
                        </a:rPr>
                        <a:t>• </a:t>
                      </a:r>
                      <a:r>
                        <a:rPr sz="1400" b="1">
                          <a:solidFill>
                            <a:srgbClr val="000000"/>
                          </a:solidFill>
                        </a:rPr>
                        <a:t>AI 가 지어내지 않는다</a:t>
                      </a:r>
                      <a:r>
                        <a:rPr sz="1400" b="0">
                          <a:solidFill>
                            <a:srgbClr val="000000"/>
                          </a:solidFill>
                        </a:rPr>
                        <a:t> — 미카엘은 성지 DB 안에서만 답하고 참고한 성지를 밝힌다</a:t>
                      </a:r>
                    </a:p>
                    <a:p>
                      <a:r>
                        <a:rPr sz="1400" b="0">
                          <a:solidFill>
                            <a:srgbClr val="000000"/>
                          </a:solidFill>
                        </a:rPr>
                        <a:t>• </a:t>
                      </a:r>
                      <a:r>
                        <a:rPr sz="1400" b="1">
                          <a:solidFill>
                            <a:srgbClr val="000000"/>
                          </a:solidFill>
                        </a:rPr>
                        <a:t>함께 만드는 순례 기록</a:t>
                      </a:r>
                      <a:r>
                        <a:rPr sz="1400" b="0">
                          <a:solidFill>
                            <a:srgbClr val="000000"/>
                          </a:solidFill>
                        </a:rPr>
                        <a:t> — 다녀온 사람의 한 줄과 사진이 다음 순례자의 안내가 되고, 「그날 붐볐나요?」가 쌓여 </a:t>
                      </a:r>
                      <a:r>
                        <a:rPr sz="1400" b="1">
                          <a:solidFill>
                            <a:srgbClr val="000000"/>
                          </a:solidFill>
                        </a:rPr>
                        <a:t>예측을 실측과 대조할 자료</a:t>
                      </a:r>
                      <a:r>
                        <a:rPr sz="1400" b="0">
                          <a:solidFill>
                            <a:srgbClr val="000000"/>
                          </a:solidFill>
                        </a:rPr>
                        <a:t>가 된다(보정 산식은 발전계획)</a:t>
                      </a:r>
                    </a:p>
                    <a:p>
                      <a:r>
                        <a:rPr sz="1400" b="0">
                          <a:solidFill>
                            <a:srgbClr val="000000"/>
                          </a:solidFill>
                        </a:rPr>
                        <a:t>• </a:t>
                      </a:r>
                      <a:r>
                        <a:rPr sz="1400" b="1">
                          <a:solidFill>
                            <a:srgbClr val="000000"/>
                          </a:solidFill>
                        </a:rPr>
                        <a:t>관광공사 데이터 원칙 준수</a:t>
                      </a:r>
                      <a:r>
                        <a:rPr sz="1400" b="0">
                          <a:solidFill>
                            <a:srgbClr val="000000"/>
                          </a:solidFill>
                        </a:rPr>
                        <a:t> — TourAPI 응답을 DB·서비스워커에 저장하지 않고 실시간 호출(집중률은 화면 메모리에서만 최대 6시간 재사용 — ADR 0002, 코드로 강제)</a:t>
                      </a:r>
                    </a:p>
                    <a:p>
                      <a:r>
                        <a:rPr sz="1400" b="0">
                          <a:solidFill>
                            <a:srgbClr val="000000"/>
                          </a:solidFill>
                        </a:rPr>
                        <a:t>• </a:t>
                      </a:r>
                      <a:r>
                        <a:rPr sz="1400" b="1">
                          <a:solidFill>
                            <a:srgbClr val="000000"/>
                          </a:solidFill>
                        </a:rPr>
                        <a:t>웹 구현</a:t>
                      </a:r>
                      <a:r>
                        <a:rPr sz="1400" b="0">
                          <a:solidFill>
                            <a:srgbClr val="000000"/>
                          </a:solidFill>
                        </a:rPr>
                        <a:t> — 반응형(휴대폰 하단 탭·PC 상단 메뉴를 </a:t>
                      </a:r>
                      <a:r>
                        <a:rPr sz="1400" b="1">
                          <a:solidFill>
                            <a:srgbClr val="000000"/>
                          </a:solidFill>
                        </a:rPr>
                        <a:t>한 코드</a:t>
                      </a:r>
                      <a:r>
                        <a:rPr sz="1400" b="0">
                          <a:solidFill>
                            <a:srgbClr val="000000"/>
                          </a:solidFill>
                        </a:rPr>
                        <a:t>로, 1024px 자동 전환) · PWA 홈 화면 설치 · </a:t>
                      </a:r>
                      <a:r>
                        <a:rPr sz="1400" b="1">
                          <a:solidFill>
                            <a:srgbClr val="000000"/>
                          </a:solidFill>
                        </a:rPr>
                        <a:t>6개 국어</a:t>
                      </a:r>
                      <a:r>
                        <a:rPr sz="1400" b="0">
                          <a:solidFill>
                            <a:srgbClr val="000000"/>
                          </a:solidFill>
                        </a:rPr>
                        <a:t> 화면·이야기·가이드·순례 코스 · 큰 글자 모드 · 접근성 정적 검토(WCAG 2.1 기준) 상위 항목 반영 · 카카오·네이버·구글 로그인 · 계정 관리(이름·비밀번호 변경·삭제)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409156"/>
                  </a:ext>
                </a:extLst>
              </a:tr>
              <a:tr h="260823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발전계획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400" b="0">
                          <a:solidFill>
                            <a:srgbClr val="000000"/>
                          </a:solidFill>
                        </a:rPr>
                        <a:t>• </a:t>
                      </a:r>
                      <a:r>
                        <a:rPr sz="1400" b="1">
                          <a:solidFill>
                            <a:srgbClr val="000000"/>
                          </a:solidFill>
                        </a:rPr>
                        <a:t>2027 서울 세계청년대회(WYD) — 외국인 순례객 100만 명 시대의 다국어 성지 플랫폼.</a:t>
                      </a:r>
                      <a:r>
                        <a:rPr sz="1400" b="0">
                          <a:solidFill>
                            <a:srgbClr val="000000"/>
                          </a:solidFill>
                        </a:rPr>
                        <a:t> 내년 세계청년대회로 외국인 순례객이 대거 방한하지만 </a:t>
                      </a:r>
                      <a:r>
                        <a:rPr sz="1400" b="1">
                          <a:solidFill>
                            <a:srgbClr val="000000"/>
                          </a:solidFill>
                        </a:rPr>
                        <a:t>전국 성지를 6개 국어로 안내하는 플랫폼은 없다</a:t>
                      </a:r>
                      <a:r>
                        <a:rPr sz="1400" b="0">
                          <a:solidFill>
                            <a:srgbClr val="000000"/>
                          </a:solidFill>
                        </a:rPr>
                        <a:t> — 이 서비스가 그 대안이다. 교구·본당 미사 시간 연동(CBCK 주소록), WYD 공식 일정지(솔뫼·해미) 특별 안내, 단체 순례 일정 공유로 확장</a:t>
                      </a:r>
                    </a:p>
                    <a:p>
                      <a:r>
                        <a:rPr sz="1400" b="0">
                          <a:solidFill>
                            <a:srgbClr val="000000"/>
                          </a:solidFill>
                        </a:rPr>
                        <a:t>• </a:t>
                      </a:r>
                      <a:r>
                        <a:rPr sz="1400" b="1">
                          <a:solidFill>
                            <a:srgbClr val="000000"/>
                          </a:solidFill>
                        </a:rPr>
                        <a:t>분산 측정·개인화</a:t>
                      </a:r>
                      <a:r>
                        <a:rPr sz="1400" b="0">
                          <a:solidFill>
                            <a:srgbClr val="000000"/>
                          </a:solidFill>
                        </a:rPr>
                        <a:t> — 기록의 성지 → 지역으로 </a:t>
                      </a:r>
                      <a:r>
                        <a:rPr sz="1400" b="1">
                          <a:solidFill>
                            <a:srgbClr val="000000"/>
                          </a:solidFill>
                        </a:rPr>
                        <a:t>비수도권 방문 비율 대시보드</a:t>
                      </a:r>
                      <a:r>
                        <a:rPr sz="1400" b="0">
                          <a:solidFill>
                            <a:srgbClr val="000000"/>
                          </a:solidFill>
                        </a:rPr>
                        <a:t>. 기록이 수도권에 몰린 이용자에게 「다음은 갈매못·솔뫼 어떠세요」 제안. 교구별 완주 배지(성지가 적은 교구부터)</a:t>
                      </a:r>
                    </a:p>
                    <a:p>
                      <a:r>
                        <a:rPr sz="1400" b="0">
                          <a:solidFill>
                            <a:srgbClr val="000000"/>
                          </a:solidFill>
                        </a:rPr>
                        <a:t>• </a:t>
                      </a:r>
                      <a:r>
                        <a:rPr sz="1400" b="1">
                          <a:solidFill>
                            <a:srgbClr val="000000"/>
                          </a:solidFill>
                        </a:rPr>
                        <a:t>예측 보정</a:t>
                      </a:r>
                      <a:r>
                        <a:rPr sz="1400" b="0">
                          <a:solidFill>
                            <a:srgbClr val="000000"/>
                          </a:solidFill>
                        </a:rPr>
                        <a:t> — 「그날 붐볐나요?」 실측으로 성지별 예측·실제 차이를 계산해 밀집도 표시를 보정(쓸수록 정확). 전례력(순교자 성월·축일 미사)을 「한적한 날」에 함께 표시. 같은 성지 재방문 기록</a:t>
                      </a:r>
                    </a:p>
                    <a:p>
                      <a:r>
                        <a:rPr sz="1400" b="0">
                          <a:solidFill>
                            <a:srgbClr val="000000"/>
                          </a:solidFill>
                        </a:rPr>
                        <a:t>• </a:t>
                      </a:r>
                      <a:r>
                        <a:rPr sz="1400" b="1">
                          <a:solidFill>
                            <a:srgbClr val="000000"/>
                          </a:solidFill>
                        </a:rPr>
                        <a:t>지방 체류</a:t>
                      </a:r>
                      <a:r>
                        <a:rPr sz="1400" b="0">
                          <a:solidFill>
                            <a:srgbClr val="000000"/>
                          </a:solidFill>
                        </a:rPr>
                        <a:t> — 지방 성지 </a:t>
                      </a:r>
                      <a:r>
                        <a:rPr sz="1400" b="1">
                          <a:solidFill>
                            <a:srgbClr val="000000"/>
                          </a:solidFill>
                        </a:rPr>
                        <a:t>1박 2일</a:t>
                      </a:r>
                      <a:r>
                        <a:rPr sz="1400" b="0">
                          <a:solidFill>
                            <a:srgbClr val="000000"/>
                          </a:solidFill>
                        </a:rPr>
                        <a:t> 일정과 </a:t>
                      </a:r>
                      <a:r>
                        <a:rPr sz="1400" b="1">
                          <a:solidFill>
                            <a:srgbClr val="000000"/>
                          </a:solidFill>
                        </a:rPr>
                        <a:t>대중교통·순례버스</a:t>
                      </a:r>
                      <a:r>
                        <a:rPr sz="1400" b="0">
                          <a:solidFill>
                            <a:srgbClr val="000000"/>
                          </a:solidFill>
                        </a:rPr>
                        <a:t> 접근 정보(차 없는 시니어). 오디오 가이드 나머지 98곳, 대표 사진 전 성지</a:t>
                      </a:r>
                    </a:p>
                    <a:p>
                      <a:r>
                        <a:rPr sz="1400" b="0">
                          <a:solidFill>
                            <a:srgbClr val="000000"/>
                          </a:solidFill>
                        </a:rPr>
                        <a:t>• </a:t>
                      </a:r>
                      <a:r>
                        <a:rPr sz="1400" b="1">
                          <a:solidFill>
                            <a:srgbClr val="000000"/>
                          </a:solidFill>
                        </a:rPr>
                        <a:t>지자체·교구 협업과 스토어 출시</a:t>
                      </a:r>
                      <a:r>
                        <a:rPr sz="1400" b="0">
                          <a:solidFill>
                            <a:srgbClr val="000000"/>
                          </a:solidFill>
                        </a:rPr>
                        <a:t> — 시·도 랜딩 페이지로 지역 관광과 협업, Android/iOS 스토어 출시(Capacitor)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4121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885689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5" name="표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4402377"/>
              </p:ext>
            </p:extLst>
          </p:nvPr>
        </p:nvGraphicFramePr>
        <p:xfrm>
          <a:off x="302952" y="2702225"/>
          <a:ext cx="11426308" cy="378184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6577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337599892"/>
                    </a:ext>
                  </a:extLst>
                </a:gridCol>
              </a:tblGrid>
              <a:tr h="321846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>
                          <a:solidFill>
                            <a:schemeClr val="bg1"/>
                          </a:solidFill>
                        </a:rPr>
                        <a:t>흐름도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900000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800" b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560000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 b="0">
                          <a:solidFill>
                            <a:srgbClr val="000000"/>
                          </a:solidFill>
                        </a:rPr>
                        <a:t>1. 성지 상세 — 사진·분류·주변 밀집도 상/중/하·태그</a:t>
                      </a:r>
                      <a:endParaRPr lang="en-US" altLang="ko-KR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050" b="0">
                          <a:solidFill>
                            <a:srgbClr val="000000"/>
                          </a:solidFill>
                        </a:rPr>
                        <a:t>2. 「오디오 가이드」 여는 말 → 지점 → 맺음말, 속도 조절, 눈여겨보기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050" b="0">
                          <a:solidFill>
                            <a:srgbClr val="000000"/>
                          </a:solidFill>
                        </a:rPr>
                        <a:t>3. 지구본 버튼으로 언어를 바꾸면 가이드도 그 언어로 (영어 예)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050" b="0">
                          <a:solidFill>
                            <a:srgbClr val="000000"/>
                          </a:solidFill>
                        </a:rPr>
                        <a:t>4. 「둘러볼 곳」 — 관광공사 식당·볼거리를 그때그때 조회해 체류 연장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6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1979266"/>
              </p:ext>
            </p:extLst>
          </p:nvPr>
        </p:nvGraphicFramePr>
        <p:xfrm>
          <a:off x="302952" y="1130530"/>
          <a:ext cx="1142630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182880"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400" b="1">
                          <a:solidFill>
                            <a:srgbClr val="FFFFFF"/>
                          </a:solidFill>
                        </a:rPr>
                        <a:t>해시태그2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/>
                      <a:r>
                        <a:rPr sz="1400" b="1">
                          <a:solidFill>
                            <a:srgbClr val="000000"/>
                          </a:solidFill>
                        </a:rPr>
                        <a:t>#오디오가이드</a:t>
                      </a:r>
                      <a:endParaRPr lang="ko-KR" altLang="en-US" b="0" i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182880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400" b="1">
                          <a:solidFill>
                            <a:srgbClr val="FFFFFF"/>
                          </a:solidFill>
                        </a:rPr>
                        <a:t>연계기능2</a:t>
                      </a:r>
                      <a:endParaRPr lang="ko-KR" altLang="en-US" b="1" dirty="0" smtClean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/>
                      <a:r>
                        <a:rPr sz="1300" b="0">
                          <a:solidFill>
                            <a:srgbClr val="000000"/>
                          </a:solidFill>
                        </a:rPr>
                        <a:t>지방의 덜 알려진 성지를 갈 만한 곳으로 — 206곳 이야기·108곳 가이드 6개 국어</a:t>
                      </a:r>
                      <a:endParaRPr lang="ko-KR" altLang="en-US" b="0" i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1657432"/>
                  </a:ext>
                </a:extLst>
              </a:tr>
              <a:tr h="236913"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400" b="1">
                          <a:solidFill>
                            <a:srgbClr val="FFFFFF"/>
                          </a:solidFill>
                        </a:rPr>
                        <a:t>기능설명2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950" b="0">
                          <a:solidFill>
                            <a:srgbClr val="000000"/>
                          </a:solidFill>
                        </a:rPr>
                        <a:t>성지 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206곳</a:t>
                      </a:r>
                      <a:r>
                        <a:rPr sz="950" b="0">
                          <a:solidFill>
                            <a:srgbClr val="000000"/>
                          </a:solidFill>
                        </a:rPr>
                        <a:t> 소개글(위치·역사·건축·주변 이야기 3문단)을 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6개 국어</a:t>
                      </a:r>
                      <a:r>
                        <a:rPr sz="950" b="0">
                          <a:solidFill>
                            <a:srgbClr val="000000"/>
                          </a:solidFill>
                        </a:rPr>
                        <a:t>(한·영·서·프·포·이)로 직접 집필 — 2026-09-21 실측 206 × 6 완비 현장 지점 원고(여는 말 → 지점 3~6곳 → 맺음말) 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108곳 × 6개 국어</a:t>
                      </a:r>
                      <a:r>
                        <a:rPr sz="950" b="0">
                          <a:solidFill>
                            <a:srgbClr val="000000"/>
                          </a:solidFill>
                        </a:rPr>
                        <a:t>. 기기 TTS 낭독·속도 조절·챕터 이동. 원고 없는 성지는 소개·역사 낭독으로 대체 성지 이야기에 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참고한 출처 링크</a:t>
                      </a:r>
                      <a:r>
                        <a:rPr sz="950" b="0">
                          <a:solidFill>
                            <a:srgbClr val="000000"/>
                          </a:solidFill>
                        </a:rPr>
                        <a:t> 표시(교구 공식 자료·굿뉴스 성지 안내). 두루누비 걷기길·둘러볼 곳(관광공사, 그때그때 조회)과 나란히. 지구본 버튼 하나로 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화면·이야기·가이드가 함께 언어 전환</a:t>
                      </a:r>
                      <a:endParaRPr lang="en-US" altLang="ko-KR" b="0" dirty="0" smtClean="0">
                        <a:solidFill>
                          <a:srgbClr val="FF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  <p:pic>
        <p:nvPicPr>
          <p:cNvPr id="7" name="Picture 6" descr="detail-top-3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942" y="3084071"/>
            <a:ext cx="1284597" cy="2780000"/>
          </a:xfrm>
          <a:prstGeom prst="rect">
            <a:avLst/>
          </a:prstGeom>
        </p:spPr>
      </p:pic>
      <p:pic>
        <p:nvPicPr>
          <p:cNvPr id="8" name="Picture 7" descr="detail-docent-39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45519" y="3084071"/>
            <a:ext cx="1284597" cy="2780000"/>
          </a:xfrm>
          <a:prstGeom prst="rect">
            <a:avLst/>
          </a:prstGeom>
        </p:spPr>
      </p:pic>
      <p:pic>
        <p:nvPicPr>
          <p:cNvPr id="9" name="Picture 8" descr="detail-docent-en-39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2096" y="3084071"/>
            <a:ext cx="1284597" cy="2780000"/>
          </a:xfrm>
          <a:prstGeom prst="rect">
            <a:avLst/>
          </a:prstGeom>
        </p:spPr>
      </p:pic>
      <p:pic>
        <p:nvPicPr>
          <p:cNvPr id="10" name="Picture 9" descr="detail-nearby-39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58673" y="3084071"/>
            <a:ext cx="1284597" cy="2780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5" name="표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4402377"/>
              </p:ext>
            </p:extLst>
          </p:nvPr>
        </p:nvGraphicFramePr>
        <p:xfrm>
          <a:off x="302952" y="2702225"/>
          <a:ext cx="11426308" cy="378184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6577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337599892"/>
                    </a:ext>
                  </a:extLst>
                </a:gridCol>
              </a:tblGrid>
              <a:tr h="321846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>
                          <a:solidFill>
                            <a:schemeClr val="bg1"/>
                          </a:solidFill>
                        </a:rPr>
                        <a:t>흐름도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900000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800" b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560000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 b="0">
                          <a:solidFill>
                            <a:srgbClr val="000000"/>
                          </a:solidFill>
                        </a:rPr>
                        <a:t>1. 질문 — 공세리 성지 위치와 전화번호. 「참고한 성지」 표시</a:t>
                      </a:r>
                      <a:endParaRPr lang="en-US" altLang="ko-KR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050" b="0">
                          <a:solidFill>
                            <a:srgbClr val="000000"/>
                          </a:solidFill>
                        </a:rPr>
                        <a:t>2. 외국어 질문에도 같은 DB 근거로 답한다 (영어 예)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050" b="0">
                          <a:solidFill>
                            <a:srgbClr val="000000"/>
                          </a:solidFill>
                        </a:rPr>
                        <a:t>3. DB 에 없는 정보는 지어내지 않고 사무실 확인을 안내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050" b="0">
                          <a:solidFill>
                            <a:srgbClr val="000000"/>
                          </a:solidFill>
                        </a:rPr>
                        <a:t>4. 어느 화면에서나 상단 「미카엘」 버튼 — 로그인하면 대화가 이어진다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6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1979266"/>
              </p:ext>
            </p:extLst>
          </p:nvPr>
        </p:nvGraphicFramePr>
        <p:xfrm>
          <a:off x="302952" y="1130530"/>
          <a:ext cx="1142630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182880"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400" b="1">
                          <a:solidFill>
                            <a:srgbClr val="FFFFFF"/>
                          </a:solidFill>
                        </a:rPr>
                        <a:t>해시태그3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/>
                      <a:r>
                        <a:rPr sz="1400" b="1">
                          <a:solidFill>
                            <a:srgbClr val="000000"/>
                          </a:solidFill>
                        </a:rPr>
                        <a:t>#순례가이드미카엘</a:t>
                      </a:r>
                      <a:endParaRPr lang="ko-KR" altLang="en-US" b="0" i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182880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400" b="1">
                          <a:solidFill>
                            <a:srgbClr val="FFFFFF"/>
                          </a:solidFill>
                        </a:rPr>
                        <a:t>연계기능3</a:t>
                      </a:r>
                      <a:endParaRPr lang="ko-KR" altLang="en-US" b="1" dirty="0" smtClean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/>
                      <a:r>
                        <a:rPr sz="1300" b="0">
                          <a:solidFill>
                            <a:srgbClr val="000000"/>
                          </a:solidFill>
                        </a:rPr>
                        <a:t>정보가 적은 지방 성지의 주소·미사·전화를 DB 근거로 답하는 AI</a:t>
                      </a:r>
                      <a:endParaRPr lang="ko-KR" altLang="en-US" b="0" i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1657432"/>
                  </a:ext>
                </a:extLst>
              </a:tr>
              <a:tr h="236913"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400" b="1">
                          <a:solidFill>
                            <a:srgbClr val="FFFFFF"/>
                          </a:solidFill>
                        </a:rPr>
                        <a:t>기능설명3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950" b="0">
                          <a:solidFill>
                            <a:srgbClr val="000000"/>
                          </a:solidFill>
                        </a:rPr>
                        <a:t>어느 화면에서나 상단 「미카엘」. 질문과 관련된 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성지 레코드(주소·전화·미사·설명)를 컨텍스트</a:t>
                      </a:r>
                      <a:r>
                        <a:rPr sz="950" b="0">
                          <a:solidFill>
                            <a:srgbClr val="000000"/>
                          </a:solidFill>
                        </a:rPr>
                        <a:t>로 넣고 "자료에 없으면 모른다고 답하라"를 시스템 프롬프트에 고정 — 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지어내지 않는다</a:t>
                      </a:r>
                      <a:r>
                        <a:rPr sz="950" b="0">
                          <a:solidFill>
                            <a:srgbClr val="000000"/>
                          </a:solidFill>
                        </a:rPr>
                        <a:t> 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Claude 우선, 실패 시 Gemini</a:t>
                      </a:r>
                      <a:r>
                        <a:rPr sz="950" b="0">
                          <a:solidFill>
                            <a:srgbClr val="000000"/>
                          </a:solidFill>
                        </a:rPr>
                        <a:t> 이중 구조. Gemini 모델 목록은 GitHub Actions 가 매일 갱신. 키는 Supabase Edge Function 에만(브라우저 비노출) 답변에 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「참고한 성지」</a:t>
                      </a:r>
                      <a:r>
                        <a:rPr sz="950" b="0">
                          <a:solidFill>
                            <a:srgbClr val="000000"/>
                          </a:solidFill>
                        </a:rPr>
                        <a:t> 표시. 로그인하면 대화가 계정에 저장·이어짐(「대화 지우기」로 삭제). 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6개 국어 질문</a:t>
                      </a:r>
                      <a:r>
                        <a:rPr sz="950" b="0">
                          <a:solidFill>
                            <a:srgbClr val="000000"/>
                          </a:solidFill>
                        </a:rPr>
                        <a:t>에 같은 DB 근거로 답한다</a:t>
                      </a:r>
                      <a:endParaRPr lang="en-US" altLang="ko-KR" b="0" dirty="0" smtClean="0">
                        <a:solidFill>
                          <a:srgbClr val="FF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  <p:pic>
        <p:nvPicPr>
          <p:cNvPr id="7" name="Picture 6" descr="michael-3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942" y="3084071"/>
            <a:ext cx="1284597" cy="2780000"/>
          </a:xfrm>
          <a:prstGeom prst="rect">
            <a:avLst/>
          </a:prstGeom>
        </p:spPr>
      </p:pic>
      <p:pic>
        <p:nvPicPr>
          <p:cNvPr id="8" name="Picture 7" descr="michael-en-39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45519" y="3084071"/>
            <a:ext cx="1284597" cy="2780000"/>
          </a:xfrm>
          <a:prstGeom prst="rect">
            <a:avLst/>
          </a:prstGeom>
        </p:spPr>
      </p:pic>
      <p:pic>
        <p:nvPicPr>
          <p:cNvPr id="9" name="Picture 8" descr="michael-mass-39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2096" y="3084071"/>
            <a:ext cx="1284597" cy="2780000"/>
          </a:xfrm>
          <a:prstGeom prst="rect">
            <a:avLst/>
          </a:prstGeom>
        </p:spPr>
      </p:pic>
      <p:pic>
        <p:nvPicPr>
          <p:cNvPr id="10" name="Picture 9" descr="michael-empty-39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58673" y="3084071"/>
            <a:ext cx="1284597" cy="2780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5" name="표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4402377"/>
              </p:ext>
            </p:extLst>
          </p:nvPr>
        </p:nvGraphicFramePr>
        <p:xfrm>
          <a:off x="302952" y="2702225"/>
          <a:ext cx="11426308" cy="378184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6577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337599892"/>
                    </a:ext>
                  </a:extLst>
                </a:gridCol>
              </a:tblGrid>
              <a:tr h="321846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>
                          <a:solidFill>
                            <a:schemeClr val="bg1"/>
                          </a:solidFill>
                        </a:rPr>
                        <a:t>흐름도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900000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800" b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560000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 b="0">
                          <a:solidFill>
                            <a:srgbClr val="000000"/>
                          </a:solidFill>
                        </a:rPr>
                        <a:t>1. 성지 상세 「순례 기록」 — 다녀온 사람들의 후기가 쌓이는 자리, 사진 최대 3장</a:t>
                      </a:r>
                      <a:endParaRPr lang="en-US" altLang="ko-KR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050" b="0">
                          <a:solidFill>
                            <a:srgbClr val="000000"/>
                          </a:solidFill>
                        </a:rPr>
                        <a:t>2. 기록 남기기의 「그날 붐볐나요?」 — 예측을 검증할 실측 한 칸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050" b="0">
                          <a:solidFill>
                            <a:srgbClr val="000000"/>
                          </a:solidFill>
                        </a:rPr>
                        <a:t>3. 카카오·네이버·구글 간편 로그인, 이메일 가입(확인 메일은 화면 언어로)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050" b="0">
                          <a:solidFill>
                            <a:srgbClr val="000000"/>
                          </a:solidFill>
                        </a:rPr>
                        <a:t>4. 순례 코스 상세 — 기록 기준 「n화까지 기록」 진행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6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1979266"/>
              </p:ext>
            </p:extLst>
          </p:nvPr>
        </p:nvGraphicFramePr>
        <p:xfrm>
          <a:off x="302952" y="1130530"/>
          <a:ext cx="1142630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182880"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400" b="1">
                          <a:solidFill>
                            <a:srgbClr val="FFFFFF"/>
                          </a:solidFill>
                        </a:rPr>
                        <a:t>해시태그4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/>
                      <a:r>
                        <a:rPr sz="1400" b="1">
                          <a:solidFill>
                            <a:srgbClr val="000000"/>
                          </a:solidFill>
                        </a:rPr>
                        <a:t>#순례기록</a:t>
                      </a:r>
                      <a:endParaRPr lang="ko-KR" altLang="en-US" b="0" i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182880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400" b="1">
                          <a:solidFill>
                            <a:srgbClr val="FFFFFF"/>
                          </a:solidFill>
                        </a:rPr>
                        <a:t>연계기능4</a:t>
                      </a:r>
                      <a:endParaRPr lang="ko-KR" altLang="en-US" b="1" dirty="0" smtClean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/>
                      <a:r>
                        <a:rPr sz="1300" b="0">
                          <a:solidFill>
                            <a:srgbClr val="000000"/>
                          </a:solidFill>
                        </a:rPr>
                        <a:t>분산을 측정하는 기록 — 「그날 붐볐나요?」와 비수도권 방문 비율</a:t>
                      </a:r>
                      <a:endParaRPr lang="ko-KR" altLang="en-US" b="0" i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1657432"/>
                  </a:ext>
                </a:extLst>
              </a:tr>
              <a:tr h="236913"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400" b="1">
                          <a:solidFill>
                            <a:srgbClr val="FFFFFF"/>
                          </a:solidFill>
                        </a:rPr>
                        <a:t>기능설명4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950" b="0">
                          <a:solidFill>
                            <a:srgbClr val="000000"/>
                          </a:solidFill>
                        </a:rPr>
                        <a:t>성지 상세 「순례 기록 남기기」: 방문일 · 한 줄 메모 · 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사진 최대 3장</a:t>
                      </a:r>
                      <a:r>
                        <a:rPr sz="950" b="0">
                          <a:solidFill>
                            <a:srgbClr val="000000"/>
                          </a:solidFill>
                        </a:rPr>
                        <a:t>. 기록은 그 성지 페이지 아래에 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다른 순례자의 후기로 쌓여</a:t>
                      </a:r>
                      <a:r>
                        <a:rPr sz="950" b="0">
                          <a:solidFill>
                            <a:srgbClr val="000000"/>
                          </a:solidFill>
                        </a:rPr>
                        <a:t> 「순례 기록 (N)」 — 운영자가 아니라 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모두가 함께 만드는 순례 안내</a:t>
                      </a:r>
                      <a:r>
                        <a:rPr sz="950" b="0">
                          <a:solidFill>
                            <a:srgbClr val="000000"/>
                          </a:solidFill>
                        </a:rPr>
                        <a:t>. 익명 공개·신고 하단 탭 가운데 「기록」에서 내 기록·즐겨찾기 모아 보기·수정·삭제. 순례 코스는 기록 기준 「n화까지 기록」 진행. 지금은 성지당 1개 → 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재방문도 기록</a:t>
                      </a:r>
                      <a:r>
                        <a:rPr sz="950" b="0">
                          <a:solidFill>
                            <a:srgbClr val="000000"/>
                          </a:solidFill>
                        </a:rPr>
                        <a:t>하도록 확장 저장 때 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「그날 붐볐나요?」</a:t>
                      </a:r>
                      <a:r>
                        <a:rPr sz="950" b="0">
                          <a:solidFill>
                            <a:srgbClr val="000000"/>
                          </a:solidFill>
                        </a:rPr>
                        <a:t>(한적·보통·붐빔) 한 칸 — 관광공사 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예측을 실측으로 보정</a:t>
                      </a:r>
                      <a:r>
                        <a:rPr sz="950" b="0">
                          <a:solidFill>
                            <a:srgbClr val="000000"/>
                          </a:solidFill>
                        </a:rPr>
                        <a:t>하는 재료. 기록은 우리 데이터라 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비수도권 방문 비율을 측정</a:t>
                      </a:r>
                      <a:r>
                        <a:rPr sz="950" b="0">
                          <a:solidFill>
                            <a:srgbClr val="000000"/>
                          </a:solidFill>
                        </a:rPr>
                        <a:t>할 수 있다</a:t>
                      </a:r>
                      <a:endParaRPr lang="en-US" altLang="ko-KR" b="0" dirty="0" smtClean="0">
                        <a:solidFill>
                          <a:srgbClr val="FF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  <p:pic>
        <p:nvPicPr>
          <p:cNvPr id="7" name="Picture 6" descr="detail-record-3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942" y="3084071"/>
            <a:ext cx="1284597" cy="2780000"/>
          </a:xfrm>
          <a:prstGeom prst="rect">
            <a:avLst/>
          </a:prstGeom>
        </p:spPr>
      </p:pic>
      <p:pic>
        <p:nvPicPr>
          <p:cNvPr id="8" name="Picture 7" descr="crowded-q-39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45519" y="3084071"/>
            <a:ext cx="1284597" cy="2780000"/>
          </a:xfrm>
          <a:prstGeom prst="rect">
            <a:avLst/>
          </a:prstGeom>
        </p:spPr>
      </p:pic>
      <p:pic>
        <p:nvPicPr>
          <p:cNvPr id="9" name="Picture 8" descr="login-39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2096" y="3084071"/>
            <a:ext cx="1284597" cy="2780000"/>
          </a:xfrm>
          <a:prstGeom prst="rect">
            <a:avLst/>
          </a:prstGeom>
        </p:spPr>
      </p:pic>
      <p:pic>
        <p:nvPicPr>
          <p:cNvPr id="10" name="Picture 9" descr="route-detail-39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58673" y="3084071"/>
            <a:ext cx="1284597" cy="2780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1745</TotalTime>
  <Words>706</Words>
  <Application>Microsoft Office PowerPoint</Application>
  <PresentationFormat>와이드스크린</PresentationFormat>
  <Paragraphs>127</Paragraphs>
  <Slides>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2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KTO</dc:creator>
  <cp:lastModifiedBy>USER</cp:lastModifiedBy>
  <cp:revision>103</cp:revision>
  <dcterms:created xsi:type="dcterms:W3CDTF">2026-07-07T05:25:59Z</dcterms:created>
  <dcterms:modified xsi:type="dcterms:W3CDTF">2026-08-11T04:23:23Z</dcterms:modified>
</cp:coreProperties>
</file>