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1"/>
  </p:notesMasterIdLst>
  <p:sldIdLst>
    <p:sldId id="259" r:id="rId2"/>
    <p:sldId id="258" r:id="rId3"/>
    <p:sldId id="270" r:id="rId4"/>
    <p:sldId id="267" r:id="rId5"/>
    <p:sldId id="260" r:id="rId6"/>
    <p:sldId id="271" r:id="rId16"/>
    <p:sldId id="272" r:id="rId17"/>
    <p:sldId id="273" r:id="rId18"/>
    <p:sldId id="268" r:id="rId7"/>
    <p:sldId id="264" r:id="rId8"/>
    <p:sldId id="265" r:id="rId9"/>
    <p:sldId id="266" r:id="rId10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499DBF"/>
    <a:srgbClr val="372472"/>
    <a:srgbClr val="BBBCDE"/>
    <a:srgbClr val="280A41"/>
    <a:srgbClr val="230A3A"/>
    <a:srgbClr val="401AC1"/>
    <a:srgbClr val="200D45"/>
    <a:srgbClr val="FFED97"/>
    <a:srgbClr val="0000FF"/>
    <a:srgbClr val="FF6F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987" autoAdjust="0"/>
    <p:restoredTop sz="94660"/>
  </p:normalViewPr>
  <p:slideViewPr>
    <p:cSldViewPr snapToGrid="0">
      <p:cViewPr varScale="1">
        <p:scale>
          <a:sx n="114" d="100"/>
          <a:sy n="114" d="100"/>
        </p:scale>
        <p:origin x="414" y="10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B3549DB-4EF3-40B0-A785-8572249070D6}" type="datetimeFigureOut">
              <a:rPr lang="ko-KR" altLang="en-US" smtClean="0"/>
              <a:t>2026-08-11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E4097B3-0D7D-4E86-933F-EBF9BA5F97E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9321721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png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png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7.png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8.pn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표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그림 2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57105540"/>
      </p:ext>
    </p:extLst>
  </p:cSld>
  <p:clrMapOvr>
    <a:masterClrMapping/>
  </p:clrMapOvr>
  <p:timing>
    <p:tnLst>
      <p:par>
        <p:cTn id="1" dur="indefinite" restart="never" nodeType="tmRoot"/>
      </p:par>
    </p:tnLst>
  </p:timing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서비스 소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그림 1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12146070" cy="680179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36223215"/>
      </p:ext>
    </p:extLst>
  </p:cSld>
  <p:clrMapOvr>
    <a:masterClrMapping/>
  </p:clrMapOvr>
  <p:timing>
    <p:tnLst>
      <p:par>
        <p:cTn id="1" dur="indefinite" restart="never" nodeType="tmRoot"/>
      </p:par>
    </p:tnLst>
  </p:timing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해시태그 연계 핵심 기능별 흐름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그림 4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12146070" cy="682085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39664904"/>
      </p:ext>
    </p:extLst>
  </p:cSld>
  <p:clrMapOvr>
    <a:masterClrMapping/>
  </p:clrMapOvr>
  <p:timing>
    <p:tnLst>
      <p:par>
        <p:cTn id="1" dur="indefinite" restart="never" nodeType="tmRoot"/>
      </p:par>
    </p:tnLst>
  </p:timing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서비스 관련 이미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그림 9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12146070" cy="684943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35382419"/>
      </p:ext>
    </p:extLst>
  </p:cSld>
  <p:clrMapOvr>
    <a:masterClrMapping/>
  </p:clrMapOvr>
  <p:timing>
    <p:tnLst>
      <p:par>
        <p:cTn id="1" dur="indefinite" restart="never" nodeType="tmRoot"/>
      </p:par>
    </p:tnLst>
  </p:timing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데이터 활용(한국관광공사 OpenAPI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그림 3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12107965" cy="683037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61228989"/>
      </p:ext>
    </p:extLst>
  </p:cSld>
  <p:clrMapOvr>
    <a:masterClrMapping/>
  </p:clrMapOvr>
  <p:timing>
    <p:tnLst>
      <p:par>
        <p:cTn id="1" dur="indefinite" restart="never" nodeType="tmRoot"/>
      </p:par>
    </p:tnLst>
  </p:timing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데이터 활용(기타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그림 3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12127017" cy="682085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09833825"/>
      </p:ext>
    </p:extLst>
  </p:cSld>
  <p:clrMapOvr>
    <a:masterClrMapping/>
  </p:clrMapOvr>
  <p:timing>
    <p:tnLst>
      <p:par>
        <p:cTn id="1" dur="indefinite" restart="never" nodeType="tmRoot"/>
      </p:par>
    </p:tnLst>
  </p:timing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서비스 차별성&amp;발전계획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그림 4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12136544" cy="683990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59249390"/>
      </p:ext>
    </p:extLst>
  </p:cSld>
  <p:clrMapOvr>
    <a:masterClrMapping/>
  </p:clrMapOvr>
  <p:timing>
    <p:tnLst>
      <p:par>
        <p:cTn id="1" dur="indefinite" restart="never" nodeType="tmRoot"/>
      </p:par>
    </p:tnLst>
  </p:timing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1_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A38FB6A-844E-4645-B6B8-D2945F9927BB}" type="datetimeFigureOut">
              <a:rPr lang="ko-KR" altLang="en-US" smtClean="0"/>
              <a:t>2026-08-11</a:t>
            </a:fld>
            <a:endParaRPr lang="ko-KR" altLang="en-US"/>
          </a:p>
        </p:txBody>
      </p:sp>
      <p:sp>
        <p:nvSpPr>
          <p:cNvPr id="3" name="바닥글 개체 틀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8832701-68F9-4777-ABB9-C14E97591467}" type="slidenum">
              <a:rPr lang="ko-KR" altLang="en-US" smtClean="0"/>
              <a:t>‹#›</a:t>
            </a:fld>
            <a:endParaRPr lang="ko-KR" altLang="en-US"/>
          </a:p>
        </p:txBody>
      </p:sp>
      <p:pic>
        <p:nvPicPr>
          <p:cNvPr id="5" name="그림 4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0491511"/>
      </p:ext>
    </p:extLst>
  </p:cSld>
  <p:clrMapOvr>
    <a:masterClrMapping/>
  </p:clrMapOvr>
  <p:timing>
    <p:tnLst>
      <p:par>
        <p:cTn id="1" dur="indefinite" restart="never" nodeType="tmRoot"/>
      </p:par>
    </p:tnLst>
  </p:timing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A38FB6A-844E-4645-B6B8-D2945F9927BB}" type="datetimeFigureOut">
              <a:rPr lang="ko-KR" altLang="en-US" smtClean="0"/>
              <a:t>2026-08-11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8832701-68F9-4777-ABB9-C14E9759146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21733254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5" r:id="rId2"/>
    <p:sldLayoutId id="2147483661" r:id="rId3"/>
    <p:sldLayoutId id="2147483666" r:id="rId4"/>
    <p:sldLayoutId id="2147483662" r:id="rId5"/>
    <p:sldLayoutId id="2147483663" r:id="rId6"/>
    <p:sldLayoutId id="2147483664" r:id="rId7"/>
    <p:sldLayoutId id="2147483668" r:id="rId8"/>
  </p:sldLayoutIdLst>
  <p:timing>
    <p:tnLst>
      <p:par>
        <p:cTn id="1" dur="indefinite" restart="never" nodeType="tmRoot"/>
      </p:par>
    </p:tnLst>
  </p:timing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9.png"/><Relationship Id="rId3" Type="http://schemas.openxmlformats.org/officeDocument/2006/relationships/image" Target="../media/image10.png"/><Relationship Id="rId4" Type="http://schemas.openxmlformats.org/officeDocument/2006/relationships/image" Target="../media/image11.png"/><Relationship Id="rId5" Type="http://schemas.openxmlformats.org/officeDocument/2006/relationships/image" Target="../media/image1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25.png"/><Relationship Id="rId3" Type="http://schemas.openxmlformats.org/officeDocument/2006/relationships/image" Target="../media/image9.png"/><Relationship Id="rId4" Type="http://schemas.openxmlformats.org/officeDocument/2006/relationships/image" Target="../media/image12.png"/><Relationship Id="rId5" Type="http://schemas.openxmlformats.org/officeDocument/2006/relationships/image" Target="../media/image13.png"/><Relationship Id="rId6" Type="http://schemas.openxmlformats.org/officeDocument/2006/relationships/image" Target="../media/image14.png"/><Relationship Id="rId7" Type="http://schemas.openxmlformats.org/officeDocument/2006/relationships/image" Target="../media/image17.png"/><Relationship Id="rId8" Type="http://schemas.openxmlformats.org/officeDocument/2006/relationships/image" Target="../media/image2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13.png"/><Relationship Id="rId3" Type="http://schemas.openxmlformats.org/officeDocument/2006/relationships/image" Target="../media/image14.png"/><Relationship Id="rId4" Type="http://schemas.openxmlformats.org/officeDocument/2006/relationships/image" Target="../media/image15.png"/><Relationship Id="rId5" Type="http://schemas.openxmlformats.org/officeDocument/2006/relationships/image" Target="../media/image16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17.png"/><Relationship Id="rId3" Type="http://schemas.openxmlformats.org/officeDocument/2006/relationships/image" Target="../media/image18.png"/><Relationship Id="rId4" Type="http://schemas.openxmlformats.org/officeDocument/2006/relationships/image" Target="../media/image19.png"/><Relationship Id="rId5" Type="http://schemas.openxmlformats.org/officeDocument/2006/relationships/image" Target="../media/image20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21.png"/><Relationship Id="rId3" Type="http://schemas.openxmlformats.org/officeDocument/2006/relationships/image" Target="../media/image22.png"/><Relationship Id="rId4" Type="http://schemas.openxmlformats.org/officeDocument/2006/relationships/image" Target="../media/image23.png"/><Relationship Id="rId5" Type="http://schemas.openxmlformats.org/officeDocument/2006/relationships/image" Target="../media/image24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flip="none" rotWithShape="1">
          <a:gsLst>
            <a:gs pos="0">
              <a:srgbClr val="401AC1"/>
            </a:gs>
            <a:gs pos="100000">
              <a:srgbClr val="280A41"/>
            </a:gs>
            <a:gs pos="75000">
              <a:srgbClr val="230A3A"/>
            </a:gs>
          </a:gsLst>
          <a:lin ang="2700000" scaled="1"/>
          <a:tileRect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6" name="표 5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189898654"/>
              </p:ext>
            </p:extLst>
          </p:nvPr>
        </p:nvGraphicFramePr>
        <p:xfrm>
          <a:off x="527397" y="4563687"/>
          <a:ext cx="6712988" cy="111221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91569">
                  <a:extLst>
                    <a:ext uri="{9D8B030D-6E8A-4147-A177-3AD203B41FA5}">
                      <a16:colId xmlns:a16="http://schemas.microsoft.com/office/drawing/2014/main" val="2581860913"/>
                    </a:ext>
                  </a:extLst>
                </a:gridCol>
                <a:gridCol w="4821419">
                  <a:extLst>
                    <a:ext uri="{9D8B030D-6E8A-4147-A177-3AD203B41FA5}">
                      <a16:colId xmlns:a16="http://schemas.microsoft.com/office/drawing/2014/main" val="1059508984"/>
                    </a:ext>
                  </a:extLst>
                </a:gridCol>
              </a:tblGrid>
              <a:tr h="547792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2400" b="1">
                          <a:solidFill>
                            <a:schemeClr val="bg1"/>
                          </a:solidFill>
                        </a:rPr>
                        <a:t>팀 명</a:t>
                      </a:r>
                    </a:p>
                  </a:txBody>
                  <a:tcPr anchor="ctr"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72472"/>
                    </a:solidFill>
                  </a:tcPr>
                </a:tc>
                <a:tc>
                  <a:txBody>
                    <a:bodyPr wrap="square"/>
                    <a:lstStyle/>
                    <a:p>
                      <a:pPr latinLnBrk="1"/>
                      <a:r>
                        <a:rPr sz="1800" b="0">
                          <a:solidFill>
                            <a:srgbClr val="000000"/>
                          </a:solidFill>
                        </a:rPr>
                        <a:t>visitholykorea</a:t>
                      </a:r>
                      <a:endParaRPr lang="ko-KR" altLang="en-US" sz="2400" b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BBCD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42559057"/>
                  </a:ext>
                </a:extLst>
              </a:tr>
              <a:tr h="564418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2400" b="1">
                          <a:solidFill>
                            <a:schemeClr val="bg1"/>
                          </a:solidFill>
                        </a:rPr>
                        <a:t>서비스</a:t>
                      </a:r>
                      <a:r>
                        <a:rPr lang="ko-KR" altLang="en-US" sz="2400" b="1" baseline="0">
                          <a:solidFill>
                            <a:schemeClr val="bg1"/>
                          </a:solidFill>
                        </a:rPr>
                        <a:t> </a:t>
                      </a:r>
                      <a:r>
                        <a:rPr lang="ko-KR" altLang="en-US" sz="2400" b="1">
                          <a:solidFill>
                            <a:schemeClr val="bg1"/>
                          </a:solidFill>
                        </a:rPr>
                        <a:t>명</a:t>
                      </a:r>
                    </a:p>
                  </a:txBody>
                  <a:tcPr anchor="ctr"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rgbClr val="372472"/>
                    </a:solidFill>
                  </a:tcPr>
                </a:tc>
                <a:tc>
                  <a:txBody>
                    <a:bodyPr wrap="square"/>
                    <a:lstStyle/>
                    <a:p>
                      <a:pPr latinLnBrk="1"/>
                      <a:r>
                        <a:rPr sz="1800" b="0">
                          <a:solidFill>
                            <a:srgbClr val="000000"/>
                          </a:solidFill>
                        </a:rPr>
                        <a:t>VisitHolyKorea (한국 천주교 성지순례)</a:t>
                      </a:r>
                      <a:endParaRPr lang="ko-KR" altLang="en-US" sz="2400" b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rgbClr val="BBBCD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4116986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35344982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표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119378647"/>
              </p:ext>
            </p:extLst>
          </p:nvPr>
        </p:nvGraphicFramePr>
        <p:xfrm>
          <a:off x="271088" y="1065402"/>
          <a:ext cx="11649825" cy="565487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55222">
                  <a:extLst>
                    <a:ext uri="{9D8B030D-6E8A-4147-A177-3AD203B41FA5}">
                      <a16:colId xmlns:a16="http://schemas.microsoft.com/office/drawing/2014/main" val="1299753452"/>
                    </a:ext>
                  </a:extLst>
                </a:gridCol>
                <a:gridCol w="9694603">
                  <a:extLst>
                    <a:ext uri="{9D8B030D-6E8A-4147-A177-3AD203B41FA5}">
                      <a16:colId xmlns:a16="http://schemas.microsoft.com/office/drawing/2014/main" val="3999346814"/>
                    </a:ext>
                  </a:extLst>
                </a:gridCol>
              </a:tblGrid>
              <a:tr h="893693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b="1">
                          <a:solidFill>
                            <a:schemeClr val="bg1"/>
                          </a:solidFill>
                        </a:rPr>
                        <a:t>서비스명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72472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lvl="0" indent="0" algn="just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300" b="0">
                          <a:solidFill>
                            <a:srgbClr val="000000"/>
                          </a:solidFill>
                        </a:rPr>
                        <a:t>VisitHolyKorea (visitholykorea.com)</a:t>
                      </a:r>
                      <a:endParaRPr lang="en-US" altLang="ko-KR" sz="1800" b="0" baseline="0" smtClean="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03409156"/>
                  </a:ext>
                </a:extLst>
              </a:tr>
              <a:tr h="625585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b="1">
                          <a:solidFill>
                            <a:schemeClr val="bg1"/>
                          </a:solidFill>
                        </a:rPr>
                        <a:t>서비스 유형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72472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lvl="0" indent="0" algn="just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300" b="0">
                          <a:solidFill>
                            <a:srgbClr val="000000"/>
                          </a:solidFill>
                        </a:rPr>
                        <a:t>웹 서비스 (반응형 PWA · 홈 화면 설치 지원) — 같은 코드로 Android/iOS 앱(Capacitor) 빌드</a:t>
                      </a:r>
                      <a:endParaRPr lang="en-US" altLang="ko-KR" sz="1800" b="0">
                        <a:solidFill>
                          <a:srgbClr val="FF0000"/>
                        </a:solidFill>
                        <a:latin typeface="+mn-lt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126837495"/>
                  </a:ext>
                </a:extLst>
              </a:tr>
              <a:tr h="893693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b="1">
                          <a:solidFill>
                            <a:schemeClr val="bg1"/>
                          </a:solidFill>
                        </a:rPr>
                        <a:t>서비스 </a:t>
                      </a:r>
                      <a:r>
                        <a:rPr lang="ko-KR" altLang="en-US" b="1" smtClean="0">
                          <a:solidFill>
                            <a:schemeClr val="bg1"/>
                          </a:solidFill>
                        </a:rPr>
                        <a:t>타깃</a:t>
                      </a:r>
                      <a:endParaRPr lang="en-US" altLang="ko-KR" b="1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72472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marR="0" lvl="0" indent="0" algn="just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sz="1300" b="0">
                          <a:solidFill>
                            <a:srgbClr val="000000"/>
                          </a:solidFill>
                        </a:rPr>
                        <a:t>① 붐비는 명소 대신 조용한 하루를 원하는 자유여행객·시니어(이용자 조사 응답자 85%가 50대 이상)</a:t>
                      </a:r>
                    </a:p>
                    <a:p>
                      <a:r>
                        <a:rPr sz="1300" b="0">
                          <a:solidFill>
                            <a:srgbClr val="000000"/>
                          </a:solidFill>
                        </a:rPr>
                        <a:t>② 한국 천주교 성지 순례객과 2027 서울 세계청년대회(WYD) 앞뒤로 방한하는 외국인 순례객(6개 국어)</a:t>
                      </a:r>
                    </a:p>
                    <a:p>
                      <a:r>
                        <a:rPr sz="1300" b="0">
                          <a:solidFill>
                            <a:srgbClr val="000000"/>
                          </a:solidFill>
                        </a:rPr>
                        <a:t>③ 종교와 무관하게 걷기·사색·역사 여행에 관심 있는 사람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064568051"/>
                  </a:ext>
                </a:extLst>
              </a:tr>
              <a:tr h="1161801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b="1">
                          <a:solidFill>
                            <a:schemeClr val="bg1"/>
                          </a:solidFill>
                        </a:rPr>
                        <a:t>서비스 개요</a:t>
                      </a:r>
                      <a:endParaRPr lang="en-US" altLang="ko-KR" b="1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72472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marR="0" lvl="0" indent="0" algn="just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sz="1300" b="0">
                          <a:solidFill>
                            <a:srgbClr val="000000"/>
                          </a:solidFill>
                        </a:rPr>
                        <a:t>전국 천주교 성지 206곳을 "오늘 마음·출발지·시간"에 맞춰 골라 주고, 한국관광공사 TourAPI 실시간 데이터(관광지 집중률 예측·주변 관광지·걷기길)로 하루 일정을 짜 주며, 현장에서는 6개 국어 성지 이야기와 오디오 가이드로 안내하고, 다녀온 기록을 남기는 순례 여행 서비스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69164922"/>
                  </a:ext>
                </a:extLst>
              </a:tr>
              <a:tr h="1161801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b="1" smtClean="0">
                          <a:solidFill>
                            <a:schemeClr val="bg1"/>
                          </a:solidFill>
                        </a:rPr>
                        <a:t>선택 </a:t>
                      </a:r>
                      <a:r>
                        <a:rPr lang="ko-KR" altLang="en-US" b="1" err="1" smtClean="0">
                          <a:solidFill>
                            <a:schemeClr val="bg1"/>
                          </a:solidFill>
                        </a:rPr>
                        <a:t>지정과제</a:t>
                      </a:r>
                      <a:endParaRPr lang="ko-KR" altLang="en-US" b="1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72472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lvl="0" indent="0" algn="just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300" b="0">
                          <a:solidFill>
                            <a:srgbClr val="000000"/>
                          </a:solidFill>
                        </a:rPr>
                        <a:t>지정과제 2번 — 유명 관광지 쏠림(오버투어리즘) 문제 해결</a:t>
                      </a:r>
                      <a:endParaRPr lang="en-US" altLang="ko-KR" sz="1800" b="0" baseline="0" smtClean="0">
                        <a:solidFill>
                          <a:srgbClr val="FF0000"/>
                        </a:solidFill>
                        <a:latin typeface="+mn-lt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17412154"/>
                  </a:ext>
                </a:extLst>
              </a:tr>
              <a:tr h="808551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800" b="1" err="1" smtClean="0">
                          <a:solidFill>
                            <a:schemeClr val="bg1"/>
                          </a:solidFill>
                        </a:rPr>
                        <a:t>지정과제</a:t>
                      </a:r>
                      <a:endParaRPr lang="en-US" altLang="ko-KR" sz="1800" b="1" baseline="0" smtClean="0">
                        <a:solidFill>
                          <a:schemeClr val="bg1"/>
                        </a:solidFill>
                      </a:endParaRPr>
                    </a:p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800" b="1" baseline="0" smtClean="0">
                          <a:solidFill>
                            <a:schemeClr val="bg1"/>
                          </a:solidFill>
                        </a:rPr>
                        <a:t>선택</a:t>
                      </a:r>
                      <a:r>
                        <a:rPr lang="en-US" altLang="ko-KR" sz="1800" b="1" baseline="0" smtClean="0">
                          <a:solidFill>
                            <a:schemeClr val="bg1"/>
                          </a:solidFill>
                        </a:rPr>
                        <a:t> </a:t>
                      </a:r>
                      <a:r>
                        <a:rPr lang="ko-KR" altLang="en-US" sz="1800" b="1" baseline="0" smtClean="0">
                          <a:solidFill>
                            <a:schemeClr val="bg1"/>
                          </a:solidFill>
                        </a:rPr>
                        <a:t>이유</a:t>
                      </a:r>
                      <a:endParaRPr lang="ko-KR" altLang="en-US" sz="1800" b="1" smtClean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72472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marR="0" lvl="0" indent="0" algn="just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sz="1300" b="0">
                          <a:solidFill>
                            <a:srgbClr val="000000"/>
                          </a:solidFill>
                        </a:rPr>
                        <a:t>성지 206곳의 68%가 비수도권에 있고 대부분 조용하다. 순례자는 목적지가 정해진 여행자라 "명동 성당 다음엔 어디"로 물으면 동선을 바꿀 수 있다. 관광공사 집중률 예측을 실시간으로 엮어 붐비는 날·곳을 피해 같은 지역의 조용한 성지와 주변 볼거리를 제안하면, 유명 성지 열 곳에 몰리던 순례를 공간(206곳)·시간(30일 예측)·체류(주변 식당·걷기길)로 펼칠 수 있다고 판단해 2번을 골랐다.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8133503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52600099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8" name="표 7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976248600"/>
              </p:ext>
            </p:extLst>
          </p:nvPr>
        </p:nvGraphicFramePr>
        <p:xfrm>
          <a:off x="271088" y="1065401"/>
          <a:ext cx="11649825" cy="55702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55222">
                  <a:extLst>
                    <a:ext uri="{9D8B030D-6E8A-4147-A177-3AD203B41FA5}">
                      <a16:colId xmlns:a16="http://schemas.microsoft.com/office/drawing/2014/main" val="1299753452"/>
                    </a:ext>
                  </a:extLst>
                </a:gridCol>
                <a:gridCol w="9694603">
                  <a:extLst>
                    <a:ext uri="{9D8B030D-6E8A-4147-A177-3AD203B41FA5}">
                      <a16:colId xmlns:a16="http://schemas.microsoft.com/office/drawing/2014/main" val="3999346814"/>
                    </a:ext>
                  </a:extLst>
                </a:gridCol>
              </a:tblGrid>
              <a:tr h="2785146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b="1" baseline="0" dirty="0" err="1" smtClean="0">
                          <a:solidFill>
                            <a:schemeClr val="bg1"/>
                          </a:solidFill>
                        </a:rPr>
                        <a:t>지정과제</a:t>
                      </a:r>
                      <a:r>
                        <a:rPr lang="ko-KR" altLang="en-US" b="1" baseline="0" dirty="0" smtClean="0">
                          <a:solidFill>
                            <a:schemeClr val="bg1"/>
                          </a:solidFill>
                        </a:rPr>
                        <a:t> 기반</a:t>
                      </a:r>
                      <a:endParaRPr lang="en-US" altLang="ko-KR" b="1" baseline="0" dirty="0" smtClean="0">
                        <a:solidFill>
                          <a:schemeClr val="bg1"/>
                        </a:solidFill>
                      </a:endParaRPr>
                    </a:p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b="1" baseline="0" dirty="0" smtClean="0">
                          <a:solidFill>
                            <a:schemeClr val="bg1"/>
                          </a:solidFill>
                        </a:rPr>
                        <a:t>서비스 기획 방향</a:t>
                      </a:r>
                      <a:endParaRPr lang="en-US" altLang="ko-KR" b="1" baseline="0" dirty="0" smtClean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72472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marR="0" lvl="0" indent="0" algn="just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sz="1300" b="0">
                          <a:solidFill>
                            <a:srgbClr val="000000"/>
                          </a:solidFill>
                        </a:rPr>
                        <a:t>1) 관광공사 「관광지 집중률 예측」으로 성지 인근 시·군·구의 붐빔을 그날 기준 조용·보통·붐빔 3단계로 보여 준다 — 숫자 대신 문장으로, 50대 이상도 한눈에 읽히게.</a:t>
                      </a:r>
                    </a:p>
                    <a:p>
                      <a:r>
                        <a:rPr sz="1300" b="0">
                          <a:solidFill>
                            <a:srgbClr val="000000"/>
                          </a:solidFill>
                        </a:rPr>
                        <a:t>2) 사용자의 마음·출발지·시간(질문 3개)에 맞는 후보 성지를 고르고, 하나를 축으로 오전 성지 → 점심(주변 식당) → 오후(주변 관광지·걷기길)의 하루 일정을 TourAPI 실시간 조회로 짠다. 응답은 저장하지 않는다.</a:t>
                      </a:r>
                    </a:p>
                    <a:p>
                      <a:r>
                        <a:rPr sz="1300" b="0">
                          <a:solidFill>
                            <a:srgbClr val="000000"/>
                          </a:solidFill>
                        </a:rPr>
                        <a:t>3) 현장 체류의 질을 높이는 콘텐츠 — 성지 206곳 소개글과 108곳 지점별 오디오 가이드를 6개 국어(한·영·서·프·포·이)로 직접 집필, 성지 DB 안에서만 답하는 AI 가이드.</a:t>
                      </a:r>
                    </a:p>
                    <a:p>
                      <a:r>
                        <a:rPr sz="1300" b="0">
                          <a:solidFill>
                            <a:srgbClr val="000000"/>
                          </a:solidFill>
                        </a:rPr>
                        <a:t>4) 다녀온 성지에 한 줄과 사진을 남기는 「순례 기록」을 서비스 중심(하단 탭 가운데)에 둔다 — 기록이 쌓이면 개인별 다음 성지 제안과 지역 분산 측정의 근거가 된다.</a:t>
                      </a:r>
                    </a:p>
                    <a:p>
                      <a:r>
                        <a:rPr sz="1300" b="0">
                          <a:solidFill>
                            <a:srgbClr val="000000"/>
                          </a:solidFill>
                        </a:rPr>
                        <a:t>5) 박해사·인물을 축으로 성지를 잇는 순례 코스로 1곳 방문을 여러 곳·여러 날로 늘린다.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03409156"/>
                  </a:ext>
                </a:extLst>
              </a:tr>
              <a:tr h="2785146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b="1" dirty="0" smtClean="0">
                          <a:solidFill>
                            <a:schemeClr val="bg1"/>
                          </a:solidFill>
                        </a:rPr>
                        <a:t>해시태그</a:t>
                      </a:r>
                      <a:r>
                        <a:rPr lang="en-US" altLang="ko-KR" b="1" baseline="0" dirty="0" smtClean="0">
                          <a:solidFill>
                            <a:schemeClr val="bg1"/>
                          </a:solidFill>
                        </a:rPr>
                        <a:t> </a:t>
                      </a:r>
                      <a:r>
                        <a:rPr lang="ko-KR" altLang="en-US" b="1" dirty="0" smtClean="0">
                          <a:solidFill>
                            <a:schemeClr val="bg1"/>
                          </a:solidFill>
                        </a:rPr>
                        <a:t>목록</a:t>
                      </a:r>
                      <a:endParaRPr lang="ko-KR" altLang="en-US" b="1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72472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marR="0" lvl="0" indent="0" algn="just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sz="1600" b="1">
                          <a:solidFill>
                            <a:srgbClr val="000000"/>
                          </a:solidFill>
                        </a:rPr>
                        <a:t>#오늘의성지일정  #오디오가이드  #순례가이드미카엘  #순례기록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89988357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7328485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" name="표 8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138217558"/>
              </p:ext>
            </p:extLst>
          </p:nvPr>
        </p:nvGraphicFramePr>
        <p:xfrm>
          <a:off x="180961" y="1551963"/>
          <a:ext cx="11830079" cy="49937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70619">
                  <a:extLst>
                    <a:ext uri="{9D8B030D-6E8A-4147-A177-3AD203B41FA5}">
                      <a16:colId xmlns:a16="http://schemas.microsoft.com/office/drawing/2014/main" val="95366056"/>
                    </a:ext>
                  </a:extLst>
                </a:gridCol>
                <a:gridCol w="2620520">
                  <a:extLst>
                    <a:ext uri="{9D8B030D-6E8A-4147-A177-3AD203B41FA5}">
                      <a16:colId xmlns:a16="http://schemas.microsoft.com/office/drawing/2014/main" val="2325135401"/>
                    </a:ext>
                  </a:extLst>
                </a:gridCol>
                <a:gridCol w="6638940">
                  <a:extLst>
                    <a:ext uri="{9D8B030D-6E8A-4147-A177-3AD203B41FA5}">
                      <a16:colId xmlns:a16="http://schemas.microsoft.com/office/drawing/2014/main" val="2514411670"/>
                    </a:ext>
                  </a:extLst>
                </a:gridCol>
              </a:tblGrid>
              <a:tr h="450256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600" b="1" smtClean="0">
                          <a:solidFill>
                            <a:schemeClr val="bg1"/>
                          </a:solidFill>
                        </a:rPr>
                        <a:t>해시태그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99DB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600" b="1" smtClean="0">
                          <a:solidFill>
                            <a:schemeClr val="bg1"/>
                          </a:solidFill>
                        </a:rPr>
                        <a:t>연계 기능</a:t>
                      </a:r>
                      <a:endParaRPr lang="ko-KR" altLang="en-US" sz="1600" b="1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99DB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600" b="1" baseline="0" smtClean="0">
                          <a:solidFill>
                            <a:schemeClr val="bg1"/>
                          </a:solidFill>
                        </a:rPr>
                        <a:t>연계 상세 내용</a:t>
                      </a:r>
                      <a:endParaRPr lang="ko-KR" altLang="en-US" sz="1600" b="1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99DB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57600838"/>
                  </a:ext>
                </a:extLst>
              </a:tr>
              <a:tr h="1135873">
                <a:tc>
                  <a:txBody>
                    <a:bodyPr wrap="square"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sz="1300" b="1">
                          <a:solidFill>
                            <a:srgbClr val="000000"/>
                          </a:solidFill>
                        </a:rPr>
                        <a:t>#오늘의성지일정</a:t>
                      </a:r>
                      <a:endParaRPr lang="en-US" altLang="ko-KR" sz="1800" b="0" baseline="0" smtClean="0">
                        <a:solidFill>
                          <a:srgbClr val="FF0000"/>
                        </a:solidFill>
                        <a:latin typeface="+mn-lt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sz="1200" b="0">
                          <a:solidFill>
                            <a:srgbClr val="000000"/>
                          </a:solidFill>
                        </a:rPr>
                        <a:t>마음 상태로 고르는 하루 일정 (오버투어리즘 대응의 중심)</a:t>
                      </a:r>
                      <a:endParaRPr lang="en-US" altLang="ko-KR" sz="1800" b="0" baseline="0" smtClean="0">
                        <a:solidFill>
                          <a:srgbClr val="FF0000"/>
                        </a:solidFill>
                        <a:latin typeface="+mn-lt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sz="1000" b="0">
                          <a:solidFill>
                            <a:srgbClr val="000000"/>
                          </a:solidFill>
                        </a:rPr>
                        <a:t>질문 3개(마음 · 출발지 · 시간)에 답하면 반경 안 후보 성지 3곳을 보여 주고, 하나를 고르면 오전 성지 → 점심 → 오후 관광지의 하루 일정을 짠다.</a:t>
                      </a:r>
                      <a:endParaRPr lang="en-US" altLang="ko-KR" sz="1800" b="0" baseline="0" dirty="0" smtClean="0">
                        <a:solidFill>
                          <a:srgbClr val="FF0000"/>
                        </a:solidFill>
                        <a:latin typeface="+mn-lt"/>
                      </a:endParaRPr>
                    </a:p>
                    <a:p>
                      <a:r>
                        <a:rPr sz="1000" b="0">
                          <a:solidFill>
                            <a:srgbClr val="000000"/>
                          </a:solidFill>
                        </a:rPr>
                        <a:t>TourAPI: 관광지 집중률 예측(TatsCnctrRateService)으로 「인근 지역이 조용해요/보통이에요/붐벼요」와 「인근이 조용해요」 후보 표시, locationBasedList2 로 성지 주변 식당·관광지 실시간 조회. 오후가 붐빌 예정이면 머무르기 또는 대안 관광지 제안.</a:t>
                      </a:r>
                    </a:p>
                    <a:p>
                      <a:r>
                        <a:rPr sz="1000" b="0">
                          <a:solidFill>
                            <a:srgbClr val="000000"/>
                          </a:solidFill>
                        </a:rPr>
                        <a:t>시간 답(반나절·하루·1박2일)이 출발지 반경(30km·80km·전국)이 되어 이동이 체류보다 길어지지 않게 한다. 성지 상세에서도 같은 집중률로 「주변 밀집도 상·중·하」를 보여 준다.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293083417"/>
                  </a:ext>
                </a:extLst>
              </a:tr>
              <a:tr h="1135873">
                <a:tc>
                  <a:txBody>
                    <a:bodyPr wrap="square"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sz="1300" b="1">
                          <a:solidFill>
                            <a:srgbClr val="000000"/>
                          </a:solidFill>
                        </a:rPr>
                        <a:t>#오디오가이드</a:t>
                      </a:r>
                      <a:endParaRPr lang="en-US" altLang="ko-KR" sz="1800" b="0" baseline="0" smtClean="0">
                        <a:solidFill>
                          <a:srgbClr val="FF0000"/>
                        </a:solidFill>
                        <a:latin typeface="+mn-lt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sz="1200" b="0">
                          <a:solidFill>
                            <a:srgbClr val="000000"/>
                          </a:solidFill>
                        </a:rPr>
                        <a:t>성지 이야기 · 지점별 오디오 가이드 (6개 국어)</a:t>
                      </a:r>
                      <a:endParaRPr lang="en-US" altLang="ko-KR" sz="1800" b="0" baseline="0" smtClean="0">
                        <a:solidFill>
                          <a:srgbClr val="FF0000"/>
                        </a:solidFill>
                        <a:latin typeface="+mn-lt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sz="1000" b="0">
                          <a:solidFill>
                            <a:srgbClr val="000000"/>
                          </a:solidFill>
                        </a:rPr>
                        <a:t>성지 206곳마다 3문단 소개글(순교·신앙 역사 / 위치·지리 / 건축)을 6개 국어로 직접 집필해 DB 에 두었다(2026-09-20 실측 206곳 × 6개 국어 완비).</a:t>
                      </a:r>
                      <a:endParaRPr lang="en-US" altLang="ko-KR" sz="1800" b="0" baseline="0" dirty="0" smtClean="0">
                        <a:solidFill>
                          <a:srgbClr val="FF0000"/>
                        </a:solidFill>
                        <a:latin typeface="+mn-lt"/>
                      </a:endParaRPr>
                    </a:p>
                    <a:p>
                      <a:r>
                        <a:rPr sz="1000" b="0">
                          <a:solidFill>
                            <a:srgbClr val="000000"/>
                          </a:solidFill>
                        </a:rPr>
                        <a:t>현장 지점 원고(여는 말 → 지점 3~6곳 → 맺음말)는 108곳 × 6개 국어. 기기 TTS 로 읽어 주며 속도 조절·챕터 이동이 되고, 원고가 없는 성지는 소개·역사 낭독으로 대체한다.</a:t>
                      </a:r>
                    </a:p>
                    <a:p>
                      <a:r>
                        <a:rPr sz="1000" b="0">
                          <a:solidFill>
                            <a:srgbClr val="000000"/>
                          </a:solidFill>
                        </a:rPr>
                        <a:t>모든 원고에 출처를 붙이고, 관광공사 두루누비 걷기길·주변 관광지(둘러볼 곳)와 나란히 보여 준다. 상단 지구본 버튼으로 언어를 바꾸면 화면·이야기·가이드가 함께 바뀐다.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293083417"/>
                  </a:ext>
                </a:extLst>
              </a:tr>
              <a:tr h="1135873">
                <a:tc>
                  <a:txBody>
                    <a:bodyPr wrap="square"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sz="1300" b="1">
                          <a:solidFill>
                            <a:srgbClr val="000000"/>
                          </a:solidFill>
                        </a:rPr>
                        <a:t>#순례가이드미카엘</a:t>
                      </a:r>
                      <a:endParaRPr lang="en-US" altLang="ko-KR" sz="1800" b="0" baseline="0" smtClean="0">
                        <a:solidFill>
                          <a:srgbClr val="FF0000"/>
                        </a:solidFill>
                        <a:latin typeface="+mn-lt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sz="1200" b="0">
                          <a:solidFill>
                            <a:srgbClr val="000000"/>
                          </a:solidFill>
                        </a:rPr>
                        <a:t>성지 DB 범위 안에서만 답하는 AI 가이드</a:t>
                      </a:r>
                      <a:endParaRPr lang="en-US" altLang="ko-KR" sz="1800" b="0" baseline="0" smtClean="0">
                        <a:solidFill>
                          <a:srgbClr val="FF0000"/>
                        </a:solidFill>
                        <a:latin typeface="+mn-lt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sz="1000" b="0">
                          <a:solidFill>
                            <a:srgbClr val="000000"/>
                          </a:solidFill>
                        </a:rPr>
                        <a:t>어느 화면에서나 상단 「미카엘」로 열린다. 질문과 관련된 성지 레코드(주소·전화·미사·설명)를 찾아 컨텍스트로 넣고 "자료에 없으면 모른다고 답하라"를 시스템 프롬프트에 고정했다.</a:t>
                      </a:r>
                      <a:endParaRPr lang="en-US" altLang="ko-KR" sz="1800" b="0" baseline="0" dirty="0" smtClean="0">
                        <a:solidFill>
                          <a:srgbClr val="FF0000"/>
                        </a:solidFill>
                        <a:latin typeface="+mn-lt"/>
                      </a:endParaRPr>
                    </a:p>
                    <a:p>
                      <a:r>
                        <a:rPr sz="1000" b="0">
                          <a:solidFill>
                            <a:srgbClr val="000000"/>
                          </a:solidFill>
                        </a:rPr>
                        <a:t>Claude(Anthropic) 우선, 실패 시 Gemini 로 넘어가는 이중 구조. 사용 가능한 Gemini 모델 목록은 GitHub Actions 가 매일 갱신한다. 키는 Supabase Edge Function 에만 두어 브라우저에 노출되지 않는다.</a:t>
                      </a:r>
                    </a:p>
                    <a:p>
                      <a:r>
                        <a:rPr sz="1000" b="0">
                          <a:solidFill>
                            <a:srgbClr val="000000"/>
                          </a:solidFill>
                        </a:rPr>
                        <a:t>답변에 「참고한 성지」를 표시해 출처를 드러내고, 로그인하면 대화가 계정에 저장돼 이어진다(「대화 지우기」로 전부 삭제). 6개 국어 질문에 같은 DB 근거로 답한다.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293083417"/>
                  </a:ext>
                </a:extLst>
              </a:tr>
              <a:tr h="1135873">
                <a:tc>
                  <a:txBody>
                    <a:bodyPr wrap="square"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sz="1300" b="1">
                          <a:solidFill>
                            <a:srgbClr val="000000"/>
                          </a:solidFill>
                        </a:rPr>
                        <a:t>#순례기록</a:t>
                      </a:r>
                      <a:endParaRPr lang="en-US" altLang="ko-KR" sz="1800" b="0" baseline="0" smtClean="0">
                        <a:solidFill>
                          <a:srgbClr val="FF0000"/>
                        </a:solidFill>
                        <a:latin typeface="+mn-lt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sz="1200" b="0">
                          <a:solidFill>
                            <a:srgbClr val="000000"/>
                          </a:solidFill>
                        </a:rPr>
                        <a:t>다녀온 성지에 한 줄과 사진 — 함께 만드는 순례 안내</a:t>
                      </a:r>
                      <a:endParaRPr lang="en-US" altLang="ko-KR" sz="1800" b="0" baseline="0" smtClean="0">
                        <a:solidFill>
                          <a:srgbClr val="FF0000"/>
                        </a:solidFill>
                        <a:latin typeface="+mn-lt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sz="1000" b="0">
                          <a:solidFill>
                            <a:srgbClr val="000000"/>
                          </a:solidFill>
                        </a:rPr>
                        <a:t>성지 상세의 「순례 기록 남기기」로 방문일·한 줄 메모·사진(성지당 1개)을 남긴다. 다른 순례자에게 익명으로 공개되어 「순례 기록 (N)」으로 쌓이고, 신고로 걸러진다.</a:t>
                      </a:r>
                      <a:endParaRPr lang="en-US" altLang="ko-KR" sz="1800" b="0" baseline="0" dirty="0" smtClean="0">
                        <a:solidFill>
                          <a:srgbClr val="FF0000"/>
                        </a:solidFill>
                        <a:latin typeface="+mn-lt"/>
                      </a:endParaRPr>
                    </a:p>
                    <a:p>
                      <a:r>
                        <a:rPr sz="1000" b="0">
                          <a:solidFill>
                            <a:srgbClr val="000000"/>
                          </a:solidFill>
                        </a:rPr>
                        <a:t>하단 탭 가운데 「기록」에서 내 기록과 즐겨찾는 성지를 모아 보고 수정·삭제한다. 순례 코스 상세는 기록을 기준으로 「n화까지 기록」 진행을 보여 준다.</a:t>
                      </a:r>
                    </a:p>
                    <a:p>
                      <a:r>
                        <a:rPr sz="1000" b="0">
                          <a:solidFill>
                            <a:srgbClr val="000000"/>
                          </a:solidFill>
                        </a:rPr>
                        <a:t>기록은 우리 데이터라 분석할 수 있다 — 기록의 성지 → 지역으로 비수도권 방문 비율을 잴 수 있고, 다음 단계로 기록 저장 때 「한적했어요/보통/붐볐어요」를 받아 집중률 예측을 보정한다(발전계획).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293083417"/>
                  </a:ext>
                </a:extLst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174567" y="1101012"/>
            <a:ext cx="3382365" cy="307777"/>
          </a:xfrm>
          <a:prstGeom prst="rect">
            <a:avLst/>
          </a:prstGeom>
          <a:solidFill>
            <a:srgbClr val="372472"/>
          </a:solidFill>
        </p:spPr>
        <p:txBody>
          <a:bodyPr wrap="square" rtlCol="0">
            <a:spAutoFit/>
          </a:bodyPr>
          <a:lstStyle/>
          <a:p>
            <a:pPr algn="ctr"/>
            <a:r>
              <a:rPr lang="ko-KR" altLang="en-US" sz="1400" b="1" dirty="0" smtClean="0">
                <a:solidFill>
                  <a:schemeClr val="bg1"/>
                </a:solidFill>
              </a:rPr>
              <a:t>해시태그 연계 핵심기능 및 상세내용</a:t>
            </a:r>
            <a:endParaRPr lang="ko-KR" altLang="en-US" sz="1400" b="1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09868818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5" name="표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04402377"/>
              </p:ext>
            </p:extLst>
          </p:nvPr>
        </p:nvGraphicFramePr>
        <p:xfrm>
          <a:off x="302952" y="2702225"/>
          <a:ext cx="11426308" cy="378184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56577">
                  <a:extLst>
                    <a:ext uri="{9D8B030D-6E8A-4147-A177-3AD203B41FA5}">
                      <a16:colId xmlns:a16="http://schemas.microsoft.com/office/drawing/2014/main" val="956832101"/>
                    </a:ext>
                  </a:extLst>
                </a:gridCol>
                <a:gridCol w="2856577">
                  <a:extLst>
                    <a:ext uri="{9D8B030D-6E8A-4147-A177-3AD203B41FA5}">
                      <a16:colId xmlns:a16="http://schemas.microsoft.com/office/drawing/2014/main" val="2325135401"/>
                    </a:ext>
                  </a:extLst>
                </a:gridCol>
                <a:gridCol w="2856577">
                  <a:extLst>
                    <a:ext uri="{9D8B030D-6E8A-4147-A177-3AD203B41FA5}">
                      <a16:colId xmlns:a16="http://schemas.microsoft.com/office/drawing/2014/main" val="1669866357"/>
                    </a:ext>
                  </a:extLst>
                </a:gridCol>
                <a:gridCol w="2856577">
                  <a:extLst>
                    <a:ext uri="{9D8B030D-6E8A-4147-A177-3AD203B41FA5}">
                      <a16:colId xmlns:a16="http://schemas.microsoft.com/office/drawing/2014/main" val="1337599892"/>
                    </a:ext>
                  </a:extLst>
                </a:gridCol>
              </a:tblGrid>
              <a:tr h="321846">
                <a:tc gridSpan="4">
                  <a:txBody>
                    <a:bodyPr/>
                    <a:lstStyle/>
                    <a:p>
                      <a:pPr algn="ctr" latinLnBrk="1"/>
                      <a:r>
                        <a:rPr lang="ko-KR" altLang="en-US">
                          <a:solidFill>
                            <a:schemeClr val="bg1"/>
                          </a:solidFill>
                        </a:rPr>
                        <a:t>기능</a:t>
                      </a:r>
                      <a:r>
                        <a:rPr lang="ko-KR" altLang="en-US" baseline="0">
                          <a:solidFill>
                            <a:schemeClr val="bg1"/>
                          </a:solidFill>
                        </a:rPr>
                        <a:t> </a:t>
                      </a:r>
                      <a:r>
                        <a:rPr lang="ko-KR" altLang="en-US">
                          <a:solidFill>
                            <a:schemeClr val="bg1"/>
                          </a:solidFill>
                        </a:rPr>
                        <a:t>흐름도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72472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 latinLnBrk="1"/>
                      <a:endParaRPr lang="ko-KR" altLang="en-US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6F00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 latinLnBrk="1"/>
                      <a:endParaRPr lang="ko-KR" altLang="en-US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6F00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 latinLnBrk="1"/>
                      <a:endParaRPr lang="ko-KR" altLang="en-US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6F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32358826"/>
                  </a:ext>
                </a:extLst>
              </a:tr>
              <a:tr h="2900000">
                <a:tc>
                  <a:txBody>
                    <a:bodyPr wrap="square"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sz="800" b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altLang="ko-KR" sz="1800" b="0">
                        <a:solidFill>
                          <a:srgbClr val="FF0000"/>
                        </a:solidFill>
                        <a:latin typeface="+mn-lt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sz="800" b="0">
                          <a:solidFill>
                            <a:srgbClr val="000000"/>
                          </a:solidFill>
                        </a:rPr>
                        <a:t/>
                      </a:r>
                      <a:endParaRPr lang="ko-KR" altLang="en-US" b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sz="800" b="0">
                          <a:solidFill>
                            <a:srgbClr val="000000"/>
                          </a:solidFill>
                        </a:rPr>
                        <a:t/>
                      </a:r>
                      <a:endParaRPr lang="ko-KR" altLang="en-US" b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sz="800" b="0">
                          <a:solidFill>
                            <a:srgbClr val="000000"/>
                          </a:solidFill>
                        </a:rPr>
                        <a:t/>
                      </a:r>
                      <a:endParaRPr lang="ko-KR" altLang="en-US" b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357600838"/>
                  </a:ext>
                </a:extLst>
              </a:tr>
              <a:tr h="560000">
                <a:tc>
                  <a:txBody>
                    <a:bodyPr wrap="square"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sz="1000" b="0">
                          <a:solidFill>
                            <a:srgbClr val="000000"/>
                          </a:solidFill>
                        </a:rPr>
                        <a:t>1. 홈 입구 카드 「오늘의 성지 일정」</a:t>
                      </a:r>
                      <a:endParaRPr lang="en-US" altLang="ko-KR" b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latinLnBrk="1"/>
                      <a:r>
                        <a:rPr sz="1000" b="0">
                          <a:solidFill>
                            <a:srgbClr val="000000"/>
                          </a:solidFill>
                        </a:rPr>
                        <a:t>2. 지금 마음 → 출발지(현재 위치·시도) → 낼 수 있는 시간</a:t>
                      </a:r>
                      <a:endParaRPr lang="ko-KR" altLang="en-US" b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latinLnBrk="1"/>
                      <a:r>
                        <a:rPr sz="1000" b="0">
                          <a:solidFill>
                            <a:srgbClr val="000000"/>
                          </a:solidFill>
                        </a:rPr>
                        <a:t>3. 반경 안 후보 3곳 — 가장 가까움·인근이 조용함·소개가 자세함 표시</a:t>
                      </a:r>
                      <a:endParaRPr lang="ko-KR" altLang="en-US" b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latinLnBrk="1"/>
                      <a:r>
                        <a:rPr sz="1000" b="0">
                          <a:solidFill>
                            <a:srgbClr val="000000"/>
                          </a:solidFill>
                        </a:rPr>
                        <a:t>4. 오전 성지 → 점심 → 오후 관광지. 관광공사 데이터를 지금 불러온 일정</a:t>
                      </a:r>
                      <a:endParaRPr lang="ko-KR" altLang="en-US" b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293083417"/>
                  </a:ext>
                </a:extLst>
              </a:tr>
            </a:tbl>
          </a:graphicData>
        </a:graphic>
      </p:graphicFrame>
      <p:graphicFrame>
        <p:nvGraphicFramePr>
          <p:cNvPr id="6" name="표 5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591979266"/>
              </p:ext>
            </p:extLst>
          </p:nvPr>
        </p:nvGraphicFramePr>
        <p:xfrm>
          <a:off x="302952" y="1130530"/>
          <a:ext cx="11426308" cy="1371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82764">
                  <a:extLst>
                    <a:ext uri="{9D8B030D-6E8A-4147-A177-3AD203B41FA5}">
                      <a16:colId xmlns:a16="http://schemas.microsoft.com/office/drawing/2014/main" val="837638667"/>
                    </a:ext>
                  </a:extLst>
                </a:gridCol>
                <a:gridCol w="9643544">
                  <a:extLst>
                    <a:ext uri="{9D8B030D-6E8A-4147-A177-3AD203B41FA5}">
                      <a16:colId xmlns:a16="http://schemas.microsoft.com/office/drawing/2014/main" val="2364043552"/>
                    </a:ext>
                  </a:extLst>
                </a:gridCol>
              </a:tblGrid>
              <a:tr h="18288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b="1" dirty="0" smtClean="0">
                          <a:solidFill>
                            <a:schemeClr val="bg1"/>
                          </a:solidFill>
                        </a:rPr>
                        <a:t>해시태그</a:t>
                      </a:r>
                      <a:r>
                        <a:rPr lang="en-US" altLang="ko-KR" b="1" dirty="0" smtClean="0">
                          <a:solidFill>
                            <a:schemeClr val="bg1"/>
                          </a:solidFill>
                        </a:rPr>
                        <a:t>1</a:t>
                      </a:r>
                      <a:endParaRPr lang="ko-KR" altLang="en-US" b="1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99DBF"/>
                    </a:solidFill>
                  </a:tcPr>
                </a:tc>
                <a:tc>
                  <a:txBody>
                    <a:bodyPr wrap="square"/>
                    <a:lstStyle/>
                    <a:p>
                      <a:pPr latinLnBrk="1"/>
                      <a:r>
                        <a:rPr sz="1300" b="1">
                          <a:solidFill>
                            <a:srgbClr val="000000"/>
                          </a:solidFill>
                        </a:rPr>
                        <a:t>#오늘의성지일정</a:t>
                      </a:r>
                      <a:endParaRPr lang="ko-KR" altLang="en-US" b="0" i="1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576143207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b="1" dirty="0" err="1" smtClean="0">
                          <a:solidFill>
                            <a:schemeClr val="bg1"/>
                          </a:solidFill>
                        </a:rPr>
                        <a:t>연계기능</a:t>
                      </a:r>
                      <a:r>
                        <a:rPr lang="en-US" altLang="ko-KR" b="1" dirty="0" smtClean="0">
                          <a:solidFill>
                            <a:schemeClr val="bg1"/>
                          </a:solidFill>
                        </a:rPr>
                        <a:t>1</a:t>
                      </a:r>
                      <a:endParaRPr lang="ko-KR" altLang="en-US" b="1" dirty="0" smtClean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99DBF"/>
                    </a:solidFill>
                  </a:tcPr>
                </a:tc>
                <a:tc>
                  <a:txBody>
                    <a:bodyPr wrap="square"/>
                    <a:lstStyle/>
                    <a:p>
                      <a:pPr latinLnBrk="1"/>
                      <a:r>
                        <a:rPr sz="1200" b="0">
                          <a:solidFill>
                            <a:srgbClr val="000000"/>
                          </a:solidFill>
                        </a:rPr>
                        <a:t>마음 상태로 고르는 하루 일정 (오버투어리즘 대응의 중심)</a:t>
                      </a:r>
                      <a:endParaRPr lang="ko-KR" altLang="en-US" b="0" i="1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261657432"/>
                  </a:ext>
                </a:extLst>
              </a:tr>
              <a:tr h="236913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b="1" dirty="0" err="1" smtClean="0">
                          <a:solidFill>
                            <a:schemeClr val="bg1"/>
                          </a:solidFill>
                        </a:rPr>
                        <a:t>기능설명</a:t>
                      </a:r>
                      <a:r>
                        <a:rPr lang="en-US" altLang="ko-KR" b="1" dirty="0" smtClean="0">
                          <a:solidFill>
                            <a:schemeClr val="bg1"/>
                          </a:solidFill>
                        </a:rPr>
                        <a:t>1</a:t>
                      </a:r>
                      <a:endParaRPr lang="ko-KR" altLang="en-US" b="1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99DBF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sz="900" b="0">
                          <a:solidFill>
                            <a:srgbClr val="000000"/>
                          </a:solidFill>
                        </a:rPr>
                        <a:t>질문 3개(마음 · 출발지 · 시간)에 답하면 반경 안 후보 성지 3곳을 보여 주고, 하나를 고르면 오전 성지 → 점심 → 오후 관광지의 하루 일정을 짠다. TourAPI: 관광지 집중률 예측(TatsCnctrRateService)으로 「인근 지역이 조용해요/보통이에요/붐벼요」와 「인근이 조용해요」 후보 표시, locationBasedList2 로 성지 주변 식당·관광지 실시간 조회. 오후가 붐빌 예정이면 머무르기 또는 대안 관광지 제안. 시간 답(반나절·하루·1박2일)이 출발지 반경(30km·80km·전국)이 되어 이동이 체류보다 길어지지 않게 한다. 성지 상세에서도 같은 집중률로 「주변 밀집도 상·중·하」를 보여 준다.</a:t>
                      </a:r>
                      <a:endParaRPr lang="en-US" altLang="ko-KR" b="0" dirty="0" smtClean="0">
                        <a:solidFill>
                          <a:srgbClr val="FF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502682219"/>
                  </a:ext>
                </a:extLst>
              </a:tr>
            </a:tbl>
          </a:graphicData>
        </a:graphic>
      </p:graphicFrame>
      <p:pic>
        <p:nvPicPr>
          <p:cNvPr id="7" name="Picture 6" descr="home-39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8942" y="3084071"/>
            <a:ext cx="1284597" cy="2780000"/>
          </a:xfrm>
          <a:prstGeom prst="rect">
            <a:avLst/>
          </a:prstGeom>
        </p:spPr>
      </p:pic>
      <p:pic>
        <p:nvPicPr>
          <p:cNvPr id="8" name="Picture 7" descr="compass-q1-39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45519" y="3084071"/>
            <a:ext cx="1284597" cy="2780000"/>
          </a:xfrm>
          <a:prstGeom prst="rect">
            <a:avLst/>
          </a:prstGeom>
        </p:spPr>
      </p:pic>
      <p:pic>
        <p:nvPicPr>
          <p:cNvPr id="9" name="Picture 8" descr="compass-result-390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02096" y="3084071"/>
            <a:ext cx="1284597" cy="2780000"/>
          </a:xfrm>
          <a:prstGeom prst="rect">
            <a:avLst/>
          </a:prstGeom>
        </p:spPr>
      </p:pic>
      <p:pic>
        <p:nvPicPr>
          <p:cNvPr id="10" name="Picture 9" descr="compass-plan-390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658673" y="3084071"/>
            <a:ext cx="1284597" cy="278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71940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표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096162552"/>
              </p:ext>
            </p:extLst>
          </p:nvPr>
        </p:nvGraphicFramePr>
        <p:xfrm>
          <a:off x="271088" y="1065401"/>
          <a:ext cx="11649825" cy="55702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55222">
                  <a:extLst>
                    <a:ext uri="{9D8B030D-6E8A-4147-A177-3AD203B41FA5}">
                      <a16:colId xmlns:a16="http://schemas.microsoft.com/office/drawing/2014/main" val="1299753452"/>
                    </a:ext>
                  </a:extLst>
                </a:gridCol>
                <a:gridCol w="9694603">
                  <a:extLst>
                    <a:ext uri="{9D8B030D-6E8A-4147-A177-3AD203B41FA5}">
                      <a16:colId xmlns:a16="http://schemas.microsoft.com/office/drawing/2014/main" val="3999346814"/>
                    </a:ext>
                  </a:extLst>
                </a:gridCol>
              </a:tblGrid>
              <a:tr h="2785146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b="1" smtClean="0">
                          <a:solidFill>
                            <a:schemeClr val="bg1"/>
                          </a:solidFill>
                        </a:rPr>
                        <a:t>서비스</a:t>
                      </a:r>
                      <a:endParaRPr lang="en-US" altLang="ko-KR" b="1" smtClean="0">
                        <a:solidFill>
                          <a:schemeClr val="bg1"/>
                        </a:solidFill>
                      </a:endParaRPr>
                    </a:p>
                    <a:p>
                      <a:pPr algn="ctr" latinLnBrk="1"/>
                      <a:r>
                        <a:rPr lang="ko-KR" altLang="en-US" b="1" smtClean="0">
                          <a:solidFill>
                            <a:schemeClr val="bg1"/>
                          </a:solidFill>
                        </a:rPr>
                        <a:t>대표 이미지</a:t>
                      </a:r>
                      <a:endParaRPr lang="en-US" altLang="ko-KR" b="1" smtClean="0">
                        <a:solidFill>
                          <a:schemeClr val="bg1"/>
                        </a:solidFill>
                      </a:endParaRPr>
                    </a:p>
                    <a:p>
                      <a:pPr algn="ctr" latinLnBrk="1"/>
                      <a:r>
                        <a:rPr lang="en-US" altLang="ko-KR" b="1" smtClean="0">
                          <a:solidFill>
                            <a:schemeClr val="bg1"/>
                          </a:solidFill>
                        </a:rPr>
                        <a:t>(</a:t>
                      </a:r>
                      <a:r>
                        <a:rPr lang="ko-KR" altLang="en-US" b="1" err="1" smtClean="0">
                          <a:solidFill>
                            <a:schemeClr val="bg1"/>
                          </a:solidFill>
                        </a:rPr>
                        <a:t>썸네일</a:t>
                      </a:r>
                      <a:r>
                        <a:rPr lang="en-US" altLang="ko-KR" b="1" smtClean="0">
                          <a:solidFill>
                            <a:schemeClr val="bg1"/>
                          </a:solidFill>
                        </a:rPr>
                        <a:t>)</a:t>
                      </a:r>
                      <a:endParaRPr lang="ko-KR" altLang="en-US" b="1" smtClean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72472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marR="0" lvl="0" indent="0" algn="just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sz="800" b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altLang="ko-KR" sz="1800" b="0" smtClean="0">
                        <a:solidFill>
                          <a:srgbClr val="FF0000"/>
                        </a:solidFill>
                        <a:latin typeface="+mn-lt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03409156"/>
                  </a:ext>
                </a:extLst>
              </a:tr>
              <a:tr h="2785146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b="1" smtClean="0">
                          <a:solidFill>
                            <a:schemeClr val="bg1"/>
                          </a:solidFill>
                        </a:rPr>
                        <a:t>서비스</a:t>
                      </a:r>
                      <a:endParaRPr lang="en-US" altLang="ko-KR" b="1" smtClean="0">
                        <a:solidFill>
                          <a:schemeClr val="bg1"/>
                        </a:solidFill>
                      </a:endParaRPr>
                    </a:p>
                    <a:p>
                      <a:pPr algn="ctr" latinLnBrk="1"/>
                      <a:r>
                        <a:rPr lang="ko-KR" altLang="en-US" b="1" smtClean="0">
                          <a:solidFill>
                            <a:schemeClr val="bg1"/>
                          </a:solidFill>
                        </a:rPr>
                        <a:t>상세 이미지</a:t>
                      </a:r>
                      <a:endParaRPr lang="en-US" altLang="ko-KR" b="1" smtClean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72472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marR="0" lvl="0" indent="0" algn="just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sz="800" b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altLang="ko-KR" sz="1800" b="0" smtClean="0">
                        <a:solidFill>
                          <a:srgbClr val="FF0000"/>
                        </a:solidFill>
                        <a:latin typeface="+mn-lt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899883579"/>
                  </a:ext>
                </a:extLst>
              </a:tr>
            </a:tbl>
          </a:graphicData>
        </a:graphic>
      </p:graphicFrame>
      <p:pic>
        <p:nvPicPr>
          <p:cNvPr id="4" name="Picture 3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81038" y="1365401"/>
            <a:ext cx="2185146" cy="2185146"/>
          </a:xfrm>
          <a:prstGeom prst="rect">
            <a:avLst/>
          </a:prstGeom>
        </p:spPr>
      </p:pic>
      <p:pic>
        <p:nvPicPr>
          <p:cNvPr id="5" name="Picture 4" descr="home-39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409189" y="3890547"/>
            <a:ext cx="1250008" cy="2705146"/>
          </a:xfrm>
          <a:prstGeom prst="rect">
            <a:avLst/>
          </a:prstGeom>
        </p:spPr>
      </p:pic>
      <p:pic>
        <p:nvPicPr>
          <p:cNvPr id="6" name="Picture 5" descr="compass-plan-390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024956" y="3890547"/>
            <a:ext cx="1250008" cy="2705146"/>
          </a:xfrm>
          <a:prstGeom prst="rect">
            <a:avLst/>
          </a:prstGeom>
        </p:spPr>
      </p:pic>
      <p:pic>
        <p:nvPicPr>
          <p:cNvPr id="7" name="Picture 6" descr="detail-top-390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640723" y="3890547"/>
            <a:ext cx="1250008" cy="2705146"/>
          </a:xfrm>
          <a:prstGeom prst="rect">
            <a:avLst/>
          </a:prstGeom>
        </p:spPr>
      </p:pic>
      <p:pic>
        <p:nvPicPr>
          <p:cNvPr id="8" name="Picture 7" descr="detail-docent-390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256490" y="3890547"/>
            <a:ext cx="1250008" cy="2705146"/>
          </a:xfrm>
          <a:prstGeom prst="rect">
            <a:avLst/>
          </a:prstGeom>
        </p:spPr>
      </p:pic>
      <p:pic>
        <p:nvPicPr>
          <p:cNvPr id="9" name="Picture 8" descr="michael-390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872257" y="3890547"/>
            <a:ext cx="1250008" cy="2705146"/>
          </a:xfrm>
          <a:prstGeom prst="rect">
            <a:avLst/>
          </a:prstGeom>
        </p:spPr>
      </p:pic>
      <p:pic>
        <p:nvPicPr>
          <p:cNvPr id="10" name="Picture 9" descr="records-390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488024" y="3890547"/>
            <a:ext cx="1250008" cy="270514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2296920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/>
        </p:nvSpPr>
        <p:spPr>
          <a:xfrm>
            <a:off x="174567" y="1101012"/>
            <a:ext cx="4770658" cy="307777"/>
          </a:xfrm>
          <a:prstGeom prst="rect">
            <a:avLst/>
          </a:prstGeom>
          <a:solidFill>
            <a:srgbClr val="372472"/>
          </a:solidFill>
        </p:spPr>
        <p:txBody>
          <a:bodyPr wrap="square" rtlCol="0">
            <a:spAutoFit/>
          </a:bodyPr>
          <a:lstStyle/>
          <a:p>
            <a:pPr algn="ctr"/>
            <a:r>
              <a:rPr lang="ko-KR" altLang="en-US" sz="1400" b="1">
                <a:solidFill>
                  <a:schemeClr val="bg1"/>
                </a:solidFill>
              </a:rPr>
              <a:t>서비스 개발에 활용한 한국관광공사 </a:t>
            </a:r>
            <a:r>
              <a:rPr lang="en-US" altLang="ko-KR" sz="1400" b="1">
                <a:solidFill>
                  <a:schemeClr val="bg1"/>
                </a:solidFill>
              </a:rPr>
              <a:t>OpenAPI </a:t>
            </a:r>
            <a:r>
              <a:rPr lang="ko-KR" altLang="en-US" sz="1400" b="1">
                <a:solidFill>
                  <a:schemeClr val="bg1"/>
                </a:solidFill>
              </a:rPr>
              <a:t>리스트</a:t>
            </a:r>
          </a:p>
        </p:txBody>
      </p:sp>
      <p:graphicFrame>
        <p:nvGraphicFramePr>
          <p:cNvPr id="7" name="표 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601316057"/>
              </p:ext>
            </p:extLst>
          </p:nvPr>
        </p:nvGraphicFramePr>
        <p:xfrm>
          <a:off x="174566" y="1646098"/>
          <a:ext cx="11746191" cy="3789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29450">
                  <a:extLst>
                    <a:ext uri="{9D8B030D-6E8A-4147-A177-3AD203B41FA5}">
                      <a16:colId xmlns:a16="http://schemas.microsoft.com/office/drawing/2014/main" val="842166946"/>
                    </a:ext>
                  </a:extLst>
                </a:gridCol>
                <a:gridCol w="1834747">
                  <a:extLst>
                    <a:ext uri="{9D8B030D-6E8A-4147-A177-3AD203B41FA5}">
                      <a16:colId xmlns:a16="http://schemas.microsoft.com/office/drawing/2014/main" val="3903607114"/>
                    </a:ext>
                  </a:extLst>
                </a:gridCol>
                <a:gridCol w="9081994">
                  <a:extLst>
                    <a:ext uri="{9D8B030D-6E8A-4147-A177-3AD203B41FA5}">
                      <a16:colId xmlns:a16="http://schemas.microsoft.com/office/drawing/2014/main" val="2519424337"/>
                    </a:ext>
                  </a:extLst>
                </a:gridCol>
              </a:tblGrid>
              <a:tr h="370840">
                <a:tc rowSpan="2">
                  <a:txBody>
                    <a:bodyPr/>
                    <a:lstStyle/>
                    <a:p>
                      <a:pPr algn="ctr" latinLnBrk="1"/>
                      <a:r>
                        <a:rPr lang="en-US" altLang="ko-KR" sz="3200" b="1">
                          <a:solidFill>
                            <a:schemeClr val="tx1"/>
                          </a:solidFill>
                        </a:rPr>
                        <a:t>1</a:t>
                      </a:r>
                      <a:endParaRPr lang="ko-KR" altLang="en-US" sz="3200" b="1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b="1">
                          <a:solidFill>
                            <a:schemeClr val="bg1"/>
                          </a:solidFill>
                        </a:rPr>
                        <a:t>API</a:t>
                      </a:r>
                      <a:r>
                        <a:rPr lang="ko-KR" altLang="en-US" b="1">
                          <a:solidFill>
                            <a:schemeClr val="bg1"/>
                          </a:solidFill>
                        </a:rPr>
                        <a:t>명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99DBF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marR="0" lvl="0" indent="0" algn="just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sz="1100" b="1">
                          <a:solidFill>
                            <a:srgbClr val="000000"/>
                          </a:solidFill>
                        </a:rPr>
                        <a:t>관광지 집중률 예측 서비스 (TatsCnctrRateService)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377720883"/>
                  </a:ext>
                </a:extLst>
              </a:tr>
              <a:tr h="370840">
                <a:tc vMerge="1"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b="1">
                          <a:solidFill>
                            <a:schemeClr val="bg1"/>
                          </a:solidFill>
                        </a:rPr>
                        <a:t>상세설명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99DBF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marR="0" lvl="0" indent="0" algn="just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sz="900" b="0">
                          <a:solidFill>
                            <a:srgbClr val="000000"/>
                          </a:solidFill>
                        </a:rPr>
                        <a:t>성지 소재 시·군·구의 관광지 집중률 예측(tatsCnctrRatedList, 오늘부터 30일)을 받아 성지 상세 「주변 밀집도 상·중·하」와 하루 일정의 「인근 지역이 조용해요 / 보통이에요 / 붐벼요」, 후보 성지의 「인근이 조용해요」 표시에 쓴다. 오버투어리즘 지정과제의 핵심 지표. 메모리에만 잠깐 두고 저장하지 않는다.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7522436"/>
                  </a:ext>
                </a:extLst>
              </a:tr>
              <a:tr h="381000">
                <a:tc rowSpan="2">
                  <a:txBody>
                    <a:bodyPr/>
                    <a:lstStyle/>
                    <a:p>
                      <a:pPr algn="ctr" latinLnBrk="1"/>
                      <a:r>
                        <a:rPr lang="en-US" altLang="ko-KR" sz="3200" b="1">
                          <a:solidFill>
                            <a:schemeClr val="tx1"/>
                          </a:solidFill>
                        </a:rPr>
                        <a:t>2</a:t>
                      </a:r>
                      <a:endParaRPr lang="ko-KR" altLang="en-US" sz="3200" b="1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b="1">
                          <a:solidFill>
                            <a:schemeClr val="bg1"/>
                          </a:solidFill>
                        </a:rPr>
                        <a:t>API</a:t>
                      </a:r>
                      <a:r>
                        <a:rPr lang="ko-KR" altLang="en-US" b="1">
                          <a:solidFill>
                            <a:schemeClr val="bg1"/>
                          </a:solidFill>
                        </a:rPr>
                        <a:t>명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99DB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just" latinLnBrk="1"/>
                      <a:r>
                        <a:rPr sz="1100" b="1">
                          <a:solidFill>
                            <a:srgbClr val="000000"/>
                          </a:solidFill>
                        </a:rPr>
                        <a:t>국문 관광정보 서비스 (KorService2)</a:t>
                      </a:r>
                      <a:endParaRPr lang="ko-KR" altLang="en-US" b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58026807"/>
                  </a:ext>
                </a:extLst>
              </a:tr>
              <a:tr h="381000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b="1">
                          <a:solidFill>
                            <a:schemeClr val="bg1"/>
                          </a:solidFill>
                        </a:rPr>
                        <a:t>상세설명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99DB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just" latinLnBrk="1"/>
                      <a:r>
                        <a:rPr sz="900" b="0">
                          <a:solidFill>
                            <a:srgbClr val="000000"/>
                          </a:solidFill>
                        </a:rPr>
                        <a:t>locationBasedList2 로 성지 주변 관광지·식당(하루 일정 점심·오후, 성지 상세 「둘러볼 곳」), searchKeyword2·areaBasedList2 로 관광지 검색, ldongCode2 로 집중률 조회에 필요한 시·군·구 코드. 매 화면 진입마다 실시간 호출(staleTime 0), DB·서비스워커에 저장하지 않음.</a:t>
                      </a:r>
                      <a:endParaRPr lang="ko-KR" altLang="en-US" b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33851369"/>
                  </a:ext>
                </a:extLst>
              </a:tr>
              <a:tr h="381000">
                <a:tc rowSpan="2">
                  <a:txBody>
                    <a:bodyPr/>
                    <a:lstStyle/>
                    <a:p>
                      <a:pPr algn="ctr" latinLnBrk="1"/>
                      <a:r>
                        <a:rPr lang="en-US" altLang="ko-KR" sz="3200" b="1">
                          <a:solidFill>
                            <a:schemeClr val="tx1"/>
                          </a:solidFill>
                        </a:rPr>
                        <a:t>3</a:t>
                      </a:r>
                      <a:endParaRPr lang="ko-KR" altLang="en-US" sz="3200" b="1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b="1">
                          <a:solidFill>
                            <a:schemeClr val="bg1"/>
                          </a:solidFill>
                        </a:rPr>
                        <a:t>API</a:t>
                      </a:r>
                      <a:r>
                        <a:rPr lang="ko-KR" altLang="en-US" b="1">
                          <a:solidFill>
                            <a:schemeClr val="bg1"/>
                          </a:solidFill>
                        </a:rPr>
                        <a:t>명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99DB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just" latinLnBrk="1"/>
                      <a:r>
                        <a:rPr sz="1100" b="1">
                          <a:solidFill>
                            <a:srgbClr val="000000"/>
                          </a:solidFill>
                        </a:rPr>
                        <a:t>지역 허브 관광지 · 연관 관광지 (LocgoHubTarService1 · TarRlteTarService1)</a:t>
                      </a:r>
                      <a:endParaRPr lang="ko-KR" altLang="en-US" b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087554315"/>
                  </a:ext>
                </a:extLst>
              </a:tr>
              <a:tr h="381000">
                <a:tc vMerge="1">
                  <a:txBody>
                    <a:bodyPr/>
                    <a:lstStyle/>
                    <a:p>
                      <a:pPr algn="ctr" latinLnBrk="1"/>
                      <a:endParaRPr lang="ko-KR" altLang="en-US" sz="3200" b="1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b="1">
                          <a:solidFill>
                            <a:schemeClr val="bg1"/>
                          </a:solidFill>
                        </a:rPr>
                        <a:t>상세설명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99DB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just" latinLnBrk="1"/>
                      <a:r>
                        <a:rPr sz="900" b="0">
                          <a:solidFill>
                            <a:srgbClr val="000000"/>
                          </a:solidFill>
                        </a:rPr>
                        <a:t>하루 일정의 오후가 붐빌 예정일 때 같은 시·군·구의 대안 관광지를 고르는 데 쓴다 — 붐비는 곳 대신 근처의 다른 곳으로 공간 분산.</a:t>
                      </a:r>
                      <a:endParaRPr lang="ko-KR" altLang="en-US" b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090228473"/>
                  </a:ext>
                </a:extLst>
              </a:tr>
              <a:tr h="381000">
                <a:tc rowSpan="2">
                  <a:txBody>
                    <a:bodyPr/>
                    <a:lstStyle/>
                    <a:p>
                      <a:pPr algn="ctr" latinLnBrk="1"/>
                      <a:r>
                        <a:rPr lang="en-US" altLang="ko-KR" sz="3200" b="1">
                          <a:solidFill>
                            <a:schemeClr val="tx1"/>
                          </a:solidFill>
                        </a:rPr>
                        <a:t>4</a:t>
                      </a:r>
                      <a:endParaRPr lang="ko-KR" altLang="en-US" sz="3200" b="1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b="1">
                          <a:solidFill>
                            <a:schemeClr val="bg1"/>
                          </a:solidFill>
                        </a:rPr>
                        <a:t>API</a:t>
                      </a:r>
                      <a:r>
                        <a:rPr lang="ko-KR" altLang="en-US" b="1">
                          <a:solidFill>
                            <a:schemeClr val="bg1"/>
                          </a:solidFill>
                        </a:rPr>
                        <a:t>명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99DB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just" latinLnBrk="1"/>
                      <a:r>
                        <a:rPr sz="1100" b="1">
                          <a:solidFill>
                            <a:srgbClr val="000000"/>
                          </a:solidFill>
                        </a:rPr>
                        <a:t>두루누비 걷기길 서비스 (Durunubi)</a:t>
                      </a:r>
                      <a:endParaRPr lang="ko-KR" altLang="en-US" b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529229970"/>
                  </a:ext>
                </a:extLst>
              </a:tr>
              <a:tr h="381000">
                <a:tc vMerge="1">
                  <a:txBody>
                    <a:bodyPr/>
                    <a:lstStyle/>
                    <a:p>
                      <a:pPr algn="ctr" latinLnBrk="1"/>
                      <a:endParaRPr lang="ko-KR" altLang="en-US" sz="3200" b="1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b="1">
                          <a:solidFill>
                            <a:schemeClr val="bg1"/>
                          </a:solidFill>
                        </a:rPr>
                        <a:t>상세설명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99DB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just" latinLnBrk="1"/>
                      <a:r>
                        <a:rPr sz="900" b="0">
                          <a:solidFill>
                            <a:srgbClr val="000000"/>
                          </a:solidFill>
                        </a:rPr>
                        <a:t>courseList(DNWW)로 성지와 같은 시·군·구의 걷기길을 받아 성지 상세에 「이 근처 걷기길」로 표시. 순례 후 도보 체류를 늘린다.</a:t>
                      </a:r>
                      <a:endParaRPr lang="ko-KR" altLang="en-US" b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167204627"/>
                  </a:ext>
                </a:extLst>
              </a:tr>
              <a:tr h="381000">
                <a:tc rowSpan="2">
                  <a:txBody>
                    <a:bodyPr/>
                    <a:lstStyle/>
                    <a:p>
                      <a:pPr algn="ctr" latinLnBrk="1"/>
                      <a:r>
                        <a:rPr lang="en-US" altLang="ko-KR" sz="3200" b="1">
                          <a:solidFill>
                            <a:schemeClr val="tx1"/>
                          </a:solidFill>
                        </a:rPr>
                        <a:t>5</a:t>
                      </a:r>
                      <a:endParaRPr lang="ko-KR" altLang="en-US" sz="3200" b="1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b="1">
                          <a:solidFill>
                            <a:schemeClr val="bg1"/>
                          </a:solidFill>
                        </a:rPr>
                        <a:t>API</a:t>
                      </a:r>
                      <a:r>
                        <a:rPr lang="ko-KR" altLang="en-US" b="1">
                          <a:solidFill>
                            <a:schemeClr val="bg1"/>
                          </a:solidFill>
                        </a:rPr>
                        <a:t>명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99DB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just" latinLnBrk="1"/>
                      <a:r>
                        <a:rPr sz="1100" b="1">
                          <a:solidFill>
                            <a:srgbClr val="000000"/>
                          </a:solidFill>
                        </a:rPr>
                        <a:t>다국어 관광정보 서비스 (SpnService2 · FreService2)</a:t>
                      </a:r>
                      <a:endParaRPr lang="ko-KR" altLang="en-US" b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638013552"/>
                  </a:ext>
                </a:extLst>
              </a:tr>
              <a:tr h="381000">
                <a:tc vMerge="1">
                  <a:txBody>
                    <a:bodyPr/>
                    <a:lstStyle/>
                    <a:p>
                      <a:pPr algn="ctr" latinLnBrk="1"/>
                      <a:endParaRPr lang="ko-KR" altLang="en-US" sz="3200" b="1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b="1">
                          <a:solidFill>
                            <a:schemeClr val="bg1"/>
                          </a:solidFill>
                        </a:rPr>
                        <a:t>상세설명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99DB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just" latinLnBrk="1"/>
                      <a:r>
                        <a:rPr sz="900" b="0">
                          <a:solidFill>
                            <a:srgbClr val="000000"/>
                          </a:solidFill>
                        </a:rPr>
                        <a:t>앱 언어가 스페인어·프랑스어일 때 주변 관광지 조회를 해당 언어 서비스로 보낸다(승인된 언어만). 결과가 비면 국문 서비스로 폴백. 영문 서비스(EngService2)는 활용신청 진행.</a:t>
                      </a:r>
                      <a:endParaRPr lang="ko-KR" altLang="en-US" b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9368854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22294703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/>
        </p:nvSpPr>
        <p:spPr>
          <a:xfrm>
            <a:off x="174567" y="1101012"/>
            <a:ext cx="3893580" cy="307777"/>
          </a:xfrm>
          <a:prstGeom prst="rect">
            <a:avLst/>
          </a:prstGeom>
          <a:solidFill>
            <a:srgbClr val="372472"/>
          </a:solidFill>
        </p:spPr>
        <p:txBody>
          <a:bodyPr wrap="square" rtlCol="0">
            <a:spAutoFit/>
          </a:bodyPr>
          <a:lstStyle/>
          <a:p>
            <a:pPr algn="ctr"/>
            <a:r>
              <a:rPr lang="ko-KR" altLang="en-US" sz="1400" b="1">
                <a:solidFill>
                  <a:schemeClr val="bg1"/>
                </a:solidFill>
              </a:rPr>
              <a:t>서비스 개발에 활용한 기타 </a:t>
            </a:r>
            <a:r>
              <a:rPr lang="en-US" altLang="ko-KR" sz="1400" b="1">
                <a:solidFill>
                  <a:schemeClr val="bg1"/>
                </a:solidFill>
              </a:rPr>
              <a:t>API, </a:t>
            </a:r>
            <a:r>
              <a:rPr lang="ko-KR" altLang="en-US" sz="1400" b="1" err="1">
                <a:solidFill>
                  <a:schemeClr val="bg1"/>
                </a:solidFill>
              </a:rPr>
              <a:t>파일데이터</a:t>
            </a:r>
            <a:endParaRPr lang="ko-KR" altLang="en-US" sz="1400" b="1">
              <a:solidFill>
                <a:schemeClr val="bg1"/>
              </a:solidFill>
            </a:endParaRPr>
          </a:p>
        </p:txBody>
      </p:sp>
      <p:graphicFrame>
        <p:nvGraphicFramePr>
          <p:cNvPr id="7" name="표 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926134091"/>
              </p:ext>
            </p:extLst>
          </p:nvPr>
        </p:nvGraphicFramePr>
        <p:xfrm>
          <a:off x="174566" y="1646098"/>
          <a:ext cx="11628657" cy="2265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21150">
                  <a:extLst>
                    <a:ext uri="{9D8B030D-6E8A-4147-A177-3AD203B41FA5}">
                      <a16:colId xmlns:a16="http://schemas.microsoft.com/office/drawing/2014/main" val="842166946"/>
                    </a:ext>
                  </a:extLst>
                </a:gridCol>
                <a:gridCol w="1816388">
                  <a:extLst>
                    <a:ext uri="{9D8B030D-6E8A-4147-A177-3AD203B41FA5}">
                      <a16:colId xmlns:a16="http://schemas.microsoft.com/office/drawing/2014/main" val="3903607114"/>
                    </a:ext>
                  </a:extLst>
                </a:gridCol>
                <a:gridCol w="8991119">
                  <a:extLst>
                    <a:ext uri="{9D8B030D-6E8A-4147-A177-3AD203B41FA5}">
                      <a16:colId xmlns:a16="http://schemas.microsoft.com/office/drawing/2014/main" val="2519424337"/>
                    </a:ext>
                  </a:extLst>
                </a:gridCol>
              </a:tblGrid>
              <a:tr h="370840">
                <a:tc rowSpan="2">
                  <a:txBody>
                    <a:bodyPr/>
                    <a:lstStyle/>
                    <a:p>
                      <a:pPr algn="ctr" latinLnBrk="1"/>
                      <a:r>
                        <a:rPr lang="en-US" altLang="ko-KR" sz="3200" b="1">
                          <a:solidFill>
                            <a:schemeClr val="tx1"/>
                          </a:solidFill>
                        </a:rPr>
                        <a:t>1</a:t>
                      </a:r>
                      <a:endParaRPr lang="ko-KR" altLang="en-US" sz="3200" b="1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b="1" err="1">
                          <a:solidFill>
                            <a:schemeClr val="bg1"/>
                          </a:solidFill>
                        </a:rPr>
                        <a:t>데이터명</a:t>
                      </a:r>
                      <a:endParaRPr lang="ko-KR" altLang="en-US" b="1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99DBF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marR="0" lvl="0" indent="0" algn="just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sz="1100" b="1">
                          <a:solidFill>
                            <a:srgbClr val="000000"/>
                          </a:solidFill>
                        </a:rPr>
                        <a:t>자체 구축 성지 DB (holy_sites · holy_site_translations · docent_scripts, 206곳)</a:t>
                      </a:r>
                      <a:endParaRPr lang="ko-KR" altLang="en-US" b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377720883"/>
                  </a:ext>
                </a:extLst>
              </a:tr>
              <a:tr h="370840">
                <a:tc vMerge="1"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b="1">
                          <a:solidFill>
                            <a:schemeClr val="bg1"/>
                          </a:solidFill>
                        </a:rPr>
                        <a:t>상세설명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99DBF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marR="0" lvl="0" indent="0" algn="just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sz="900" b="0">
                          <a:solidFill>
                            <a:srgbClr val="000000"/>
                          </a:solidFill>
                        </a:rPr>
                        <a:t>교구 홈페이지·굿뉴스 성지 안내·현장 취재로 직접 수집한 성지 206곳의 주소·연락처·미사 시간·역사와, 성지마다 6개 국어 소개글(206곳 × 6) + 지점별 오디오 가이드 원고(108곳 × 6). 대표 사진은 직접 촬영·교구 홍보국 제공분(출처·라이선스 표기). Supabase(PostgreSQL) 저장.</a:t>
                      </a:r>
                      <a:endParaRPr lang="ko-KR" altLang="en-US" b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7522436"/>
                  </a:ext>
                </a:extLst>
              </a:tr>
              <a:tr h="381000">
                <a:tc rowSpan="2">
                  <a:txBody>
                    <a:bodyPr/>
                    <a:lstStyle/>
                    <a:p>
                      <a:pPr algn="ctr" latinLnBrk="1"/>
                      <a:r>
                        <a:rPr lang="en-US" altLang="ko-KR" sz="3200" b="1">
                          <a:solidFill>
                            <a:schemeClr val="tx1"/>
                          </a:solidFill>
                        </a:rPr>
                        <a:t>2</a:t>
                      </a:r>
                      <a:endParaRPr lang="ko-KR" altLang="en-US" sz="3200" b="1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b="1" err="1">
                          <a:solidFill>
                            <a:schemeClr val="bg1"/>
                          </a:solidFill>
                        </a:rPr>
                        <a:t>데이터명</a:t>
                      </a:r>
                      <a:endParaRPr lang="ko-KR" altLang="en-US" b="1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99DB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just" latinLnBrk="1"/>
                      <a:r>
                        <a:rPr sz="1100" b="1">
                          <a:solidFill>
                            <a:srgbClr val="000000"/>
                          </a:solidFill>
                        </a:rPr>
                        <a:t>한국천주교주소록 (CBCK, catholic_directory 5,918건)</a:t>
                      </a:r>
                      <a:endParaRPr lang="ko-KR" altLang="en-US" b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58026807"/>
                  </a:ext>
                </a:extLst>
              </a:tr>
              <a:tr h="381000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b="1">
                          <a:solidFill>
                            <a:schemeClr val="bg1"/>
                          </a:solidFill>
                        </a:rPr>
                        <a:t>상세설명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99DB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just" latinLnBrk="1"/>
                      <a:r>
                        <a:rPr sz="900" b="0">
                          <a:solidFill>
                            <a:srgbClr val="000000"/>
                          </a:solidFill>
                        </a:rPr>
                        <a:t>한국천주교중앙협의회 공개 주소록을 수집해 성지 상세·시도 화면의 「주변 성당·공소」(가까운 미사)로 표시. 외국어 화면에서는 이름·주소를 자동 로마자로.</a:t>
                      </a:r>
                      <a:endParaRPr lang="ko-KR" altLang="en-US" b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33851369"/>
                  </a:ext>
                </a:extLst>
              </a:tr>
              <a:tr h="381000">
                <a:tc rowSpan="2">
                  <a:txBody>
                    <a:bodyPr/>
                    <a:lstStyle/>
                    <a:p>
                      <a:pPr algn="ctr" latinLnBrk="1"/>
                      <a:r>
                        <a:rPr lang="en-US" altLang="ko-KR" sz="3200" b="1">
                          <a:solidFill>
                            <a:schemeClr val="tx1"/>
                          </a:solidFill>
                        </a:rPr>
                        <a:t>3</a:t>
                      </a:r>
                      <a:endParaRPr lang="ko-KR" altLang="en-US" sz="3200" b="1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b="1" err="1">
                          <a:solidFill>
                            <a:schemeClr val="bg1"/>
                          </a:solidFill>
                        </a:rPr>
                        <a:t>데이터명</a:t>
                      </a:r>
                      <a:endParaRPr lang="ko-KR" altLang="en-US" b="1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99DB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just" latinLnBrk="1"/>
                      <a:r>
                        <a:rPr sz="1100" b="1">
                          <a:solidFill>
                            <a:srgbClr val="000000"/>
                          </a:solidFill>
                        </a:rPr>
                        <a:t>순례 기록 (pilgrimage_stamps · 이용자 생성)</a:t>
                      </a:r>
                      <a:endParaRPr lang="ko-KR" altLang="en-US" b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087554315"/>
                  </a:ext>
                </a:extLst>
              </a:tr>
              <a:tr h="381000">
                <a:tc vMerge="1">
                  <a:txBody>
                    <a:bodyPr/>
                    <a:lstStyle/>
                    <a:p>
                      <a:pPr algn="ctr" latinLnBrk="1"/>
                      <a:endParaRPr lang="ko-KR" altLang="en-US" sz="3200" b="1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b="1">
                          <a:solidFill>
                            <a:schemeClr val="bg1"/>
                          </a:solidFill>
                        </a:rPr>
                        <a:t>상세설명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99DB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just" latinLnBrk="1"/>
                      <a:r>
                        <a:rPr sz="900" b="0">
                          <a:solidFill>
                            <a:srgbClr val="000000"/>
                          </a:solidFill>
                        </a:rPr>
                        <a:t>이용자가 남긴 방문일·한 줄·사진. 우리 데이터라 분석 가능 — 비수도권 방문 비율 측정, 다음 성지 제안, 집중률 예측 보정(발전계획)의 재료.</a:t>
                      </a:r>
                      <a:endParaRPr lang="ko-KR" altLang="en-US" b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090228473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17735648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표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957205643"/>
              </p:ext>
            </p:extLst>
          </p:nvPr>
        </p:nvGraphicFramePr>
        <p:xfrm>
          <a:off x="287250" y="1218429"/>
          <a:ext cx="11649825" cy="507430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55222">
                  <a:extLst>
                    <a:ext uri="{9D8B030D-6E8A-4147-A177-3AD203B41FA5}">
                      <a16:colId xmlns:a16="http://schemas.microsoft.com/office/drawing/2014/main" val="1299753452"/>
                    </a:ext>
                  </a:extLst>
                </a:gridCol>
                <a:gridCol w="9694603">
                  <a:extLst>
                    <a:ext uri="{9D8B030D-6E8A-4147-A177-3AD203B41FA5}">
                      <a16:colId xmlns:a16="http://schemas.microsoft.com/office/drawing/2014/main" val="3999346814"/>
                    </a:ext>
                  </a:extLst>
                </a:gridCol>
              </a:tblGrid>
              <a:tr h="2466075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b="1">
                          <a:solidFill>
                            <a:schemeClr val="bg1"/>
                          </a:solidFill>
                        </a:rPr>
                        <a:t>차별성</a:t>
                      </a:r>
                      <a:endParaRPr lang="en-US" altLang="ko-KR" b="1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72472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lvl="0" indent="0" algn="just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000" b="0">
                          <a:solidFill>
                            <a:srgbClr val="000000"/>
                          </a:solidFill>
                        </a:rPr>
                        <a:t>• 「대체 관광지 추천」이 아니라 「오늘의 하루 일정」 — 집중률 예측·주변 관광지를 그날 실시간으로 조합해 붐빔을 피하면서도 그 지역에 머물게 한다. 성지 68%가 비수도권이라 분산이 구조적으로 일어난다.</a:t>
                      </a:r>
                      <a:endParaRPr lang="en-US" altLang="ko-KR" sz="1800" b="0">
                        <a:solidFill>
                          <a:srgbClr val="FF0000"/>
                        </a:solidFill>
                        <a:latin typeface="+mn-lt"/>
                      </a:endParaRPr>
                    </a:p>
                    <a:p>
                      <a:r>
                        <a:rPr sz="1000" b="0">
                          <a:solidFill>
                            <a:srgbClr val="000000"/>
                          </a:solidFill>
                        </a:rPr>
                        <a:t>• 콘텐츠를 직접 만들었다 — 성지 206곳 소개글과 108곳 오디오 가이드를 6개 국어로, 모든 원고에 출처 표기. 기존 관광 앱이 다루지 않는 종교 유산 층위.</a:t>
                      </a:r>
                    </a:p>
                    <a:p>
                      <a:r>
                        <a:rPr sz="1000" b="0">
                          <a:solidFill>
                            <a:srgbClr val="000000"/>
                          </a:solidFill>
                        </a:rPr>
                        <a:t>• AI 가 지어내지 않는다 — 미카엘은 성지 DB 안에서만 답하고 참고한 성지를 밝힌다. 종교·역사 정보의 신뢰가 서비스의 생명이라는 판단.</a:t>
                      </a:r>
                    </a:p>
                    <a:p>
                      <a:r>
                        <a:rPr sz="1000" b="0">
                          <a:solidFill>
                            <a:srgbClr val="000000"/>
                          </a:solidFill>
                        </a:rPr>
                        <a:t>• 순례 기록이 서비스의 중심 — 다녀온 사람의 한 줄과 사진이 다음 순례자의 안내가 되고, 쌓일수록 분산 효과를 잴 수 있다.</a:t>
                      </a:r>
                    </a:p>
                    <a:p>
                      <a:r>
                        <a:rPr sz="1000" b="0">
                          <a:solidFill>
                            <a:srgbClr val="000000"/>
                          </a:solidFill>
                        </a:rPr>
                        <a:t>• 시니어·외국인 접근성 — 큰 글자 모드, 6개 국어 UI·이야기·가이드, 기기 TTS, 홈 화면 설치(PWA), 카카오·네이버·구글 간편 로그인, 접근성 감사(WCAG 2.1 AA) 반영.</a:t>
                      </a:r>
                    </a:p>
                    <a:p>
                      <a:r>
                        <a:rPr sz="1000" b="0">
                          <a:solidFill>
                            <a:srgbClr val="000000"/>
                          </a:solidFill>
                        </a:rPr>
                        <a:t>• 관광공사 데이터 원칙 준수 — TourAPI 응답을 DB·캐시에 저장하지 않고 매 요청 실시간 호출(ADR 0002 로 문서화, 코드로 강제).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03409156"/>
                  </a:ext>
                </a:extLst>
              </a:tr>
              <a:tr h="2608231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b="1">
                          <a:solidFill>
                            <a:schemeClr val="bg1"/>
                          </a:solidFill>
                        </a:rPr>
                        <a:t>발전계획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72472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marR="0" lvl="0" indent="0" algn="just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sz="1000" b="0">
                          <a:solidFill>
                            <a:srgbClr val="000000"/>
                          </a:solidFill>
                        </a:rPr>
                        <a:t>• 시간 분산: 집중률 예측 30일치를 「이번 달 조용한 날」 달력으로 — 이미 받는 데이터를 하루에서 한 달로. 전례력(순교자 성월·축일 미사)과 함께 표시.</a:t>
                      </a:r>
                    </a:p>
                    <a:p>
                      <a:r>
                        <a:rPr sz="1000" b="0">
                          <a:solidFill>
                            <a:srgbClr val="000000"/>
                          </a:solidFill>
                        </a:rPr>
                        <a:t>• 실측 보정: 순례 기록 저장 때 「한적했어요/보통/붐볐어요」 한 칸을 받아 예측치를 보정 — 쓸수록 정확해지는 구조. 기록 기반 「다음 성지 제안」(수도권 기록이 많으면 지방 성지).</a:t>
                      </a:r>
                    </a:p>
                    <a:p>
                      <a:r>
                        <a:rPr sz="1000" b="0">
                          <a:solidFill>
                            <a:srgbClr val="000000"/>
                          </a:solidFill>
                        </a:rPr>
                        <a:t>• 공간 분산 측정: 기록의 성지 → 지역으로 비수도권 방문 비율 대시보드. 교구별 완주 배지(성지가 적은 교구부터).</a:t>
                      </a:r>
                    </a:p>
                    <a:p>
                      <a:r>
                        <a:rPr sz="1000" b="0">
                          <a:solidFill>
                            <a:srgbClr val="000000"/>
                          </a:solidFill>
                        </a:rPr>
                        <a:t>• 지방 성지 1박 2일 묶음(2일차 일정) + 대중교통·순례버스 접근 정보. 오디오 가이드 나머지 98곳 집필, 대표 사진 전 성지 확보(현재 102곳).</a:t>
                      </a:r>
                    </a:p>
                    <a:p>
                      <a:r>
                        <a:rPr sz="1000" b="0">
                          <a:solidFill>
                            <a:srgbClr val="000000"/>
                          </a:solidFill>
                        </a:rPr>
                        <a:t>• 2027 서울 WYD 대비 교구·본당 미사 시간 연동(CBCK 주소록), 시·도 랜딩 페이지로 지자체·교구 협업, Android/iOS 스토어 출시(Capacitor).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1741215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98856896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aphicFrame>
        <p:nvGraphicFramePr>
          <p:cNvPr id="5" name="표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04402377"/>
              </p:ext>
            </p:extLst>
          </p:nvPr>
        </p:nvGraphicFramePr>
        <p:xfrm>
          <a:off x="302952" y="2702225"/>
          <a:ext cx="11426308" cy="378184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56577">
                  <a:extLst>
                    <a:ext uri="{9D8B030D-6E8A-4147-A177-3AD203B41FA5}">
                      <a16:colId xmlns:a16="http://schemas.microsoft.com/office/drawing/2014/main" val="956832101"/>
                    </a:ext>
                  </a:extLst>
                </a:gridCol>
                <a:gridCol w="2856577">
                  <a:extLst>
                    <a:ext uri="{9D8B030D-6E8A-4147-A177-3AD203B41FA5}">
                      <a16:colId xmlns:a16="http://schemas.microsoft.com/office/drawing/2014/main" val="2325135401"/>
                    </a:ext>
                  </a:extLst>
                </a:gridCol>
                <a:gridCol w="2856577">
                  <a:extLst>
                    <a:ext uri="{9D8B030D-6E8A-4147-A177-3AD203B41FA5}">
                      <a16:colId xmlns:a16="http://schemas.microsoft.com/office/drawing/2014/main" val="1669866357"/>
                    </a:ext>
                  </a:extLst>
                </a:gridCol>
                <a:gridCol w="2856577">
                  <a:extLst>
                    <a:ext uri="{9D8B030D-6E8A-4147-A177-3AD203B41FA5}">
                      <a16:colId xmlns:a16="http://schemas.microsoft.com/office/drawing/2014/main" val="1337599892"/>
                    </a:ext>
                  </a:extLst>
                </a:gridCol>
              </a:tblGrid>
              <a:tr h="321846">
                <a:tc gridSpan="4">
                  <a:txBody>
                    <a:bodyPr/>
                    <a:lstStyle/>
                    <a:p>
                      <a:pPr algn="ctr" latinLnBrk="1"/>
                      <a:r>
                        <a:rPr lang="ko-KR" altLang="en-US">
                          <a:solidFill>
                            <a:schemeClr val="bg1"/>
                          </a:solidFill>
                        </a:rPr>
                        <a:t>기능</a:t>
                      </a:r>
                      <a:r>
                        <a:rPr lang="ko-KR" altLang="en-US" baseline="0">
                          <a:solidFill>
                            <a:schemeClr val="bg1"/>
                          </a:solidFill>
                        </a:rPr>
                        <a:t> </a:t>
                      </a:r>
                      <a:r>
                        <a:rPr lang="ko-KR" altLang="en-US">
                          <a:solidFill>
                            <a:schemeClr val="bg1"/>
                          </a:solidFill>
                        </a:rPr>
                        <a:t>흐름도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72472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 latinLnBrk="1"/>
                      <a:endParaRPr lang="ko-KR" altLang="en-US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6F00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 latinLnBrk="1"/>
                      <a:endParaRPr lang="ko-KR" altLang="en-US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6F00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 latinLnBrk="1"/>
                      <a:endParaRPr lang="ko-KR" altLang="en-US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6F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32358826"/>
                  </a:ext>
                </a:extLst>
              </a:tr>
              <a:tr h="2900000">
                <a:tc>
                  <a:txBody>
                    <a:bodyPr wrap="square"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sz="800" b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altLang="ko-KR" sz="1800" b="0">
                        <a:solidFill>
                          <a:srgbClr val="FF0000"/>
                        </a:solidFill>
                        <a:latin typeface="+mn-lt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sz="800" b="0">
                          <a:solidFill>
                            <a:srgbClr val="000000"/>
                          </a:solidFill>
                        </a:rPr>
                        <a:t/>
                      </a:r>
                      <a:endParaRPr lang="ko-KR" altLang="en-US" b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sz="800" b="0">
                          <a:solidFill>
                            <a:srgbClr val="000000"/>
                          </a:solidFill>
                        </a:rPr>
                        <a:t/>
                      </a:r>
                      <a:endParaRPr lang="ko-KR" altLang="en-US" b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sz="800" b="0">
                          <a:solidFill>
                            <a:srgbClr val="000000"/>
                          </a:solidFill>
                        </a:rPr>
                        <a:t/>
                      </a:r>
                      <a:endParaRPr lang="ko-KR" altLang="en-US" b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357600838"/>
                  </a:ext>
                </a:extLst>
              </a:tr>
              <a:tr h="560000">
                <a:tc>
                  <a:txBody>
                    <a:bodyPr wrap="square"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sz="1000" b="0">
                          <a:solidFill>
                            <a:srgbClr val="000000"/>
                          </a:solidFill>
                        </a:rPr>
                        <a:t>1. 성지 상세 — 사진·분류·주변 밀집도 상/중/하·태그</a:t>
                      </a:r>
                      <a:endParaRPr lang="en-US" altLang="ko-KR" b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latinLnBrk="1"/>
                      <a:r>
                        <a:rPr sz="1000" b="0">
                          <a:solidFill>
                            <a:srgbClr val="000000"/>
                          </a:solidFill>
                        </a:rPr>
                        <a:t>2. 「오디오 가이드」 여는 말 → 지점 → 맺음말, 속도 조절, 눈여겨보기</a:t>
                      </a:r>
                      <a:endParaRPr lang="ko-KR" altLang="en-US" b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latinLnBrk="1"/>
                      <a:r>
                        <a:rPr sz="1000" b="0">
                          <a:solidFill>
                            <a:srgbClr val="000000"/>
                          </a:solidFill>
                        </a:rPr>
                        <a:t>3. 지구본 버튼으로 언어를 바꾸면 가이드도 그 언어로 (영어 예)</a:t>
                      </a:r>
                      <a:endParaRPr lang="ko-KR" altLang="en-US" b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latinLnBrk="1"/>
                      <a:r>
                        <a:rPr sz="1000" b="0">
                          <a:solidFill>
                            <a:srgbClr val="000000"/>
                          </a:solidFill>
                        </a:rPr>
                        <a:t>4. 「둘러볼 곳」 — 관광공사 실시간 식당·볼거리로 체류 연장</a:t>
                      </a:r>
                      <a:endParaRPr lang="ko-KR" altLang="en-US" b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293083417"/>
                  </a:ext>
                </a:extLst>
              </a:tr>
            </a:tbl>
          </a:graphicData>
        </a:graphic>
      </p:graphicFrame>
      <p:graphicFrame>
        <p:nvGraphicFramePr>
          <p:cNvPr id="6" name="표 5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591979266"/>
              </p:ext>
            </p:extLst>
          </p:nvPr>
        </p:nvGraphicFramePr>
        <p:xfrm>
          <a:off x="302952" y="1130530"/>
          <a:ext cx="11426308" cy="1371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82764">
                  <a:extLst>
                    <a:ext uri="{9D8B030D-6E8A-4147-A177-3AD203B41FA5}">
                      <a16:colId xmlns:a16="http://schemas.microsoft.com/office/drawing/2014/main" val="837638667"/>
                    </a:ext>
                  </a:extLst>
                </a:gridCol>
                <a:gridCol w="9643544">
                  <a:extLst>
                    <a:ext uri="{9D8B030D-6E8A-4147-A177-3AD203B41FA5}">
                      <a16:colId xmlns:a16="http://schemas.microsoft.com/office/drawing/2014/main" val="2364043552"/>
                    </a:ext>
                  </a:extLst>
                </a:gridCol>
              </a:tblGrid>
              <a:tr h="18288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b="1" dirty="0" smtClean="0">
                          <a:solidFill>
                            <a:schemeClr val="bg1"/>
                          </a:solidFill>
                        </a:rPr>
                        <a:t>해시태그</a:t>
                      </a:r>
                      <a:r>
                        <a:rPr lang="en-US" altLang="ko-KR" b="1" dirty="0" smtClean="0">
                          <a:solidFill>
                            <a:schemeClr val="bg1"/>
                          </a:solidFill>
                        </a:rPr>
                        <a:t>1</a:t>
                      </a:r>
                      <a:endParaRPr lang="ko-KR" altLang="en-US" b="1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99DBF"/>
                    </a:solidFill>
                  </a:tcPr>
                </a:tc>
                <a:tc>
                  <a:txBody>
                    <a:bodyPr wrap="square"/>
                    <a:lstStyle/>
                    <a:p>
                      <a:pPr latinLnBrk="1"/>
                      <a:r>
                        <a:rPr sz="1300" b="1">
                          <a:solidFill>
                            <a:srgbClr val="000000"/>
                          </a:solidFill>
                        </a:rPr>
                        <a:t>#오디오가이드</a:t>
                      </a:r>
                      <a:endParaRPr lang="ko-KR" altLang="en-US" b="0" i="1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576143207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b="1" dirty="0" err="1" smtClean="0">
                          <a:solidFill>
                            <a:schemeClr val="bg1"/>
                          </a:solidFill>
                        </a:rPr>
                        <a:t>연계기능</a:t>
                      </a:r>
                      <a:r>
                        <a:rPr lang="en-US" altLang="ko-KR" b="1" dirty="0" smtClean="0">
                          <a:solidFill>
                            <a:schemeClr val="bg1"/>
                          </a:solidFill>
                        </a:rPr>
                        <a:t>1</a:t>
                      </a:r>
                      <a:endParaRPr lang="ko-KR" altLang="en-US" b="1" dirty="0" smtClean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99DBF"/>
                    </a:solidFill>
                  </a:tcPr>
                </a:tc>
                <a:tc>
                  <a:txBody>
                    <a:bodyPr wrap="square"/>
                    <a:lstStyle/>
                    <a:p>
                      <a:pPr latinLnBrk="1"/>
                      <a:r>
                        <a:rPr sz="1200" b="0">
                          <a:solidFill>
                            <a:srgbClr val="000000"/>
                          </a:solidFill>
                        </a:rPr>
                        <a:t>성지 이야기 · 지점별 오디오 가이드 (6개 국어)</a:t>
                      </a:r>
                      <a:endParaRPr lang="ko-KR" altLang="en-US" b="0" i="1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261657432"/>
                  </a:ext>
                </a:extLst>
              </a:tr>
              <a:tr h="236913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b="1" dirty="0" err="1" smtClean="0">
                          <a:solidFill>
                            <a:schemeClr val="bg1"/>
                          </a:solidFill>
                        </a:rPr>
                        <a:t>기능설명</a:t>
                      </a:r>
                      <a:r>
                        <a:rPr lang="en-US" altLang="ko-KR" b="1" dirty="0" smtClean="0">
                          <a:solidFill>
                            <a:schemeClr val="bg1"/>
                          </a:solidFill>
                        </a:rPr>
                        <a:t>1</a:t>
                      </a:r>
                      <a:endParaRPr lang="ko-KR" altLang="en-US" b="1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99DBF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sz="900" b="0">
                          <a:solidFill>
                            <a:srgbClr val="000000"/>
                          </a:solidFill>
                        </a:rPr>
                        <a:t>성지 206곳마다 3문단 소개글(순교·신앙 역사 / 위치·지리 / 건축)을 6개 국어로 직접 집필해 DB 에 두었다(2026-09-20 실측 206곳 × 6개 국어 완비). 현장 지점 원고(여는 말 → 지점 3~6곳 → 맺음말)는 108곳 × 6개 국어. 기기 TTS 로 읽어 주며 속도 조절·챕터 이동이 되고, 원고가 없는 성지는 소개·역사 낭독으로 대체한다. 모든 원고에 출처를 붙이고, 관광공사 두루누비 걷기길·주변 관광지(둘러볼 곳)와 나란히 보여 준다. 상단 지구본 버튼으로 언어를 바꾸면 화면·이야기·가이드가 함께 바뀐다.</a:t>
                      </a:r>
                      <a:endParaRPr lang="en-US" altLang="ko-KR" b="0" dirty="0" smtClean="0">
                        <a:solidFill>
                          <a:srgbClr val="FF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502682219"/>
                  </a:ext>
                </a:extLst>
              </a:tr>
            </a:tbl>
          </a:graphicData>
        </a:graphic>
      </p:graphicFrame>
      <p:pic>
        <p:nvPicPr>
          <p:cNvPr id="7" name="Picture 6" descr="detail-top-39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8942" y="3084071"/>
            <a:ext cx="1284597" cy="2780000"/>
          </a:xfrm>
          <a:prstGeom prst="rect">
            <a:avLst/>
          </a:prstGeom>
        </p:spPr>
      </p:pic>
      <p:pic>
        <p:nvPicPr>
          <p:cNvPr id="8" name="Picture 7" descr="detail-docent-39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45519" y="3084071"/>
            <a:ext cx="1284597" cy="2780000"/>
          </a:xfrm>
          <a:prstGeom prst="rect">
            <a:avLst/>
          </a:prstGeom>
        </p:spPr>
      </p:pic>
      <p:pic>
        <p:nvPicPr>
          <p:cNvPr id="9" name="Picture 8" descr="detail-docent-en-390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02096" y="3084071"/>
            <a:ext cx="1284597" cy="2780000"/>
          </a:xfrm>
          <a:prstGeom prst="rect">
            <a:avLst/>
          </a:prstGeom>
        </p:spPr>
      </p:pic>
      <p:pic>
        <p:nvPicPr>
          <p:cNvPr id="10" name="Picture 9" descr="detail-nearby-390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658673" y="3084071"/>
            <a:ext cx="1284597" cy="27800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aphicFrame>
        <p:nvGraphicFramePr>
          <p:cNvPr id="5" name="표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04402377"/>
              </p:ext>
            </p:extLst>
          </p:nvPr>
        </p:nvGraphicFramePr>
        <p:xfrm>
          <a:off x="302952" y="2702225"/>
          <a:ext cx="11426308" cy="378184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56577">
                  <a:extLst>
                    <a:ext uri="{9D8B030D-6E8A-4147-A177-3AD203B41FA5}">
                      <a16:colId xmlns:a16="http://schemas.microsoft.com/office/drawing/2014/main" val="956832101"/>
                    </a:ext>
                  </a:extLst>
                </a:gridCol>
                <a:gridCol w="2856577">
                  <a:extLst>
                    <a:ext uri="{9D8B030D-6E8A-4147-A177-3AD203B41FA5}">
                      <a16:colId xmlns:a16="http://schemas.microsoft.com/office/drawing/2014/main" val="2325135401"/>
                    </a:ext>
                  </a:extLst>
                </a:gridCol>
                <a:gridCol w="2856577">
                  <a:extLst>
                    <a:ext uri="{9D8B030D-6E8A-4147-A177-3AD203B41FA5}">
                      <a16:colId xmlns:a16="http://schemas.microsoft.com/office/drawing/2014/main" val="1669866357"/>
                    </a:ext>
                  </a:extLst>
                </a:gridCol>
                <a:gridCol w="2856577">
                  <a:extLst>
                    <a:ext uri="{9D8B030D-6E8A-4147-A177-3AD203B41FA5}">
                      <a16:colId xmlns:a16="http://schemas.microsoft.com/office/drawing/2014/main" val="1337599892"/>
                    </a:ext>
                  </a:extLst>
                </a:gridCol>
              </a:tblGrid>
              <a:tr h="321846">
                <a:tc gridSpan="4">
                  <a:txBody>
                    <a:bodyPr/>
                    <a:lstStyle/>
                    <a:p>
                      <a:pPr algn="ctr" latinLnBrk="1"/>
                      <a:r>
                        <a:rPr lang="ko-KR" altLang="en-US">
                          <a:solidFill>
                            <a:schemeClr val="bg1"/>
                          </a:solidFill>
                        </a:rPr>
                        <a:t>기능</a:t>
                      </a:r>
                      <a:r>
                        <a:rPr lang="ko-KR" altLang="en-US" baseline="0">
                          <a:solidFill>
                            <a:schemeClr val="bg1"/>
                          </a:solidFill>
                        </a:rPr>
                        <a:t> </a:t>
                      </a:r>
                      <a:r>
                        <a:rPr lang="ko-KR" altLang="en-US">
                          <a:solidFill>
                            <a:schemeClr val="bg1"/>
                          </a:solidFill>
                        </a:rPr>
                        <a:t>흐름도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72472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 latinLnBrk="1"/>
                      <a:endParaRPr lang="ko-KR" altLang="en-US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6F00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 latinLnBrk="1"/>
                      <a:endParaRPr lang="ko-KR" altLang="en-US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6F00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 latinLnBrk="1"/>
                      <a:endParaRPr lang="ko-KR" altLang="en-US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6F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32358826"/>
                  </a:ext>
                </a:extLst>
              </a:tr>
              <a:tr h="2900000">
                <a:tc>
                  <a:txBody>
                    <a:bodyPr wrap="square"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sz="800" b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altLang="ko-KR" sz="1800" b="0">
                        <a:solidFill>
                          <a:srgbClr val="FF0000"/>
                        </a:solidFill>
                        <a:latin typeface="+mn-lt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sz="800" b="0">
                          <a:solidFill>
                            <a:srgbClr val="000000"/>
                          </a:solidFill>
                        </a:rPr>
                        <a:t/>
                      </a:r>
                      <a:endParaRPr lang="ko-KR" altLang="en-US" b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sz="800" b="0">
                          <a:solidFill>
                            <a:srgbClr val="000000"/>
                          </a:solidFill>
                        </a:rPr>
                        <a:t/>
                      </a:r>
                      <a:endParaRPr lang="ko-KR" altLang="en-US" b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sz="800" b="0">
                          <a:solidFill>
                            <a:srgbClr val="000000"/>
                          </a:solidFill>
                        </a:rPr>
                        <a:t/>
                      </a:r>
                      <a:endParaRPr lang="ko-KR" altLang="en-US" b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357600838"/>
                  </a:ext>
                </a:extLst>
              </a:tr>
              <a:tr h="560000">
                <a:tc>
                  <a:txBody>
                    <a:bodyPr wrap="square"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sz="1000" b="0">
                          <a:solidFill>
                            <a:srgbClr val="000000"/>
                          </a:solidFill>
                        </a:rPr>
                        <a:t>1. 질문 — 공세리 성지 위치와 전화번호. 「참고한 성지」 표시</a:t>
                      </a:r>
                      <a:endParaRPr lang="en-US" altLang="ko-KR" b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latinLnBrk="1"/>
                      <a:r>
                        <a:rPr sz="1000" b="0">
                          <a:solidFill>
                            <a:srgbClr val="000000"/>
                          </a:solidFill>
                        </a:rPr>
                        <a:t>2. 외국어 질문에도 같은 DB 근거로 답한다 (영어 예)</a:t>
                      </a:r>
                      <a:endParaRPr lang="ko-KR" altLang="en-US" b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latinLnBrk="1"/>
                      <a:r>
                        <a:rPr sz="1000" b="0">
                          <a:solidFill>
                            <a:srgbClr val="000000"/>
                          </a:solidFill>
                        </a:rPr>
                        <a:t>3. DB 에 없는 정보는 지어내지 않고 사무실 확인을 안내</a:t>
                      </a:r>
                      <a:endParaRPr lang="ko-KR" altLang="en-US" b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latinLnBrk="1"/>
                      <a:r>
                        <a:rPr sz="1000" b="0">
                          <a:solidFill>
                            <a:srgbClr val="000000"/>
                          </a:solidFill>
                        </a:rPr>
                        <a:t>4. 더보기 — 언어 6개·글자 크기·홈 화면 추가·계정 설정</a:t>
                      </a:r>
                      <a:endParaRPr lang="ko-KR" altLang="en-US" b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293083417"/>
                  </a:ext>
                </a:extLst>
              </a:tr>
            </a:tbl>
          </a:graphicData>
        </a:graphic>
      </p:graphicFrame>
      <p:graphicFrame>
        <p:nvGraphicFramePr>
          <p:cNvPr id="6" name="표 5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591979266"/>
              </p:ext>
            </p:extLst>
          </p:nvPr>
        </p:nvGraphicFramePr>
        <p:xfrm>
          <a:off x="302952" y="1130530"/>
          <a:ext cx="11426308" cy="1371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82764">
                  <a:extLst>
                    <a:ext uri="{9D8B030D-6E8A-4147-A177-3AD203B41FA5}">
                      <a16:colId xmlns:a16="http://schemas.microsoft.com/office/drawing/2014/main" val="837638667"/>
                    </a:ext>
                  </a:extLst>
                </a:gridCol>
                <a:gridCol w="9643544">
                  <a:extLst>
                    <a:ext uri="{9D8B030D-6E8A-4147-A177-3AD203B41FA5}">
                      <a16:colId xmlns:a16="http://schemas.microsoft.com/office/drawing/2014/main" val="2364043552"/>
                    </a:ext>
                  </a:extLst>
                </a:gridCol>
              </a:tblGrid>
              <a:tr h="18288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b="1" dirty="0" smtClean="0">
                          <a:solidFill>
                            <a:schemeClr val="bg1"/>
                          </a:solidFill>
                        </a:rPr>
                        <a:t>해시태그</a:t>
                      </a:r>
                      <a:r>
                        <a:rPr lang="en-US" altLang="ko-KR" b="1" dirty="0" smtClean="0">
                          <a:solidFill>
                            <a:schemeClr val="bg1"/>
                          </a:solidFill>
                        </a:rPr>
                        <a:t>1</a:t>
                      </a:r>
                      <a:endParaRPr lang="ko-KR" altLang="en-US" b="1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99DBF"/>
                    </a:solidFill>
                  </a:tcPr>
                </a:tc>
                <a:tc>
                  <a:txBody>
                    <a:bodyPr wrap="square"/>
                    <a:lstStyle/>
                    <a:p>
                      <a:pPr latinLnBrk="1"/>
                      <a:r>
                        <a:rPr sz="1300" b="1">
                          <a:solidFill>
                            <a:srgbClr val="000000"/>
                          </a:solidFill>
                        </a:rPr>
                        <a:t>#순례가이드미카엘</a:t>
                      </a:r>
                      <a:endParaRPr lang="ko-KR" altLang="en-US" b="0" i="1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576143207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b="1" dirty="0" err="1" smtClean="0">
                          <a:solidFill>
                            <a:schemeClr val="bg1"/>
                          </a:solidFill>
                        </a:rPr>
                        <a:t>연계기능</a:t>
                      </a:r>
                      <a:r>
                        <a:rPr lang="en-US" altLang="ko-KR" b="1" dirty="0" smtClean="0">
                          <a:solidFill>
                            <a:schemeClr val="bg1"/>
                          </a:solidFill>
                        </a:rPr>
                        <a:t>1</a:t>
                      </a:r>
                      <a:endParaRPr lang="ko-KR" altLang="en-US" b="1" dirty="0" smtClean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99DBF"/>
                    </a:solidFill>
                  </a:tcPr>
                </a:tc>
                <a:tc>
                  <a:txBody>
                    <a:bodyPr wrap="square"/>
                    <a:lstStyle/>
                    <a:p>
                      <a:pPr latinLnBrk="1"/>
                      <a:r>
                        <a:rPr sz="1200" b="0">
                          <a:solidFill>
                            <a:srgbClr val="000000"/>
                          </a:solidFill>
                        </a:rPr>
                        <a:t>성지 DB 범위 안에서만 답하는 AI 가이드</a:t>
                      </a:r>
                      <a:endParaRPr lang="ko-KR" altLang="en-US" b="0" i="1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261657432"/>
                  </a:ext>
                </a:extLst>
              </a:tr>
              <a:tr h="236913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b="1" dirty="0" err="1" smtClean="0">
                          <a:solidFill>
                            <a:schemeClr val="bg1"/>
                          </a:solidFill>
                        </a:rPr>
                        <a:t>기능설명</a:t>
                      </a:r>
                      <a:r>
                        <a:rPr lang="en-US" altLang="ko-KR" b="1" dirty="0" smtClean="0">
                          <a:solidFill>
                            <a:schemeClr val="bg1"/>
                          </a:solidFill>
                        </a:rPr>
                        <a:t>1</a:t>
                      </a:r>
                      <a:endParaRPr lang="ko-KR" altLang="en-US" b="1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99DBF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sz="900" b="0">
                          <a:solidFill>
                            <a:srgbClr val="000000"/>
                          </a:solidFill>
                        </a:rPr>
                        <a:t>어느 화면에서나 상단 「미카엘」로 열린다. 질문과 관련된 성지 레코드(주소·전화·미사·설명)를 찾아 컨텍스트로 넣고 "자료에 없으면 모른다고 답하라"를 시스템 프롬프트에 고정했다. Claude(Anthropic) 우선, 실패 시 Gemini 로 넘어가는 이중 구조. 사용 가능한 Gemini 모델 목록은 GitHub Actions 가 매일 갱신한다. 키는 Supabase Edge Function 에만 두어 브라우저에 노출되지 않는다. 답변에 「참고한 성지」를 표시해 출처를 드러내고, 로그인하면 대화가 계정에 저장돼 이어진다(「대화 지우기」로 전부 삭제). 6개 국어 질문에 같은 DB 근거로 답한다.</a:t>
                      </a:r>
                      <a:endParaRPr lang="en-US" altLang="ko-KR" b="0" dirty="0" smtClean="0">
                        <a:solidFill>
                          <a:srgbClr val="FF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502682219"/>
                  </a:ext>
                </a:extLst>
              </a:tr>
            </a:tbl>
          </a:graphicData>
        </a:graphic>
      </p:graphicFrame>
      <p:pic>
        <p:nvPicPr>
          <p:cNvPr id="7" name="Picture 6" descr="michael-39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8942" y="3084071"/>
            <a:ext cx="1284597" cy="2780000"/>
          </a:xfrm>
          <a:prstGeom prst="rect">
            <a:avLst/>
          </a:prstGeom>
        </p:spPr>
      </p:pic>
      <p:pic>
        <p:nvPicPr>
          <p:cNvPr id="8" name="Picture 7" descr="michael-en-39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45519" y="3084071"/>
            <a:ext cx="1284597" cy="2780000"/>
          </a:xfrm>
          <a:prstGeom prst="rect">
            <a:avLst/>
          </a:prstGeom>
        </p:spPr>
      </p:pic>
      <p:pic>
        <p:nvPicPr>
          <p:cNvPr id="9" name="Picture 8" descr="michael-mass-390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02096" y="3084071"/>
            <a:ext cx="1284597" cy="2780000"/>
          </a:xfrm>
          <a:prstGeom prst="rect">
            <a:avLst/>
          </a:prstGeom>
        </p:spPr>
      </p:pic>
      <p:pic>
        <p:nvPicPr>
          <p:cNvPr id="10" name="Picture 9" descr="menu-390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658673" y="3084071"/>
            <a:ext cx="1284597" cy="27800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aphicFrame>
        <p:nvGraphicFramePr>
          <p:cNvPr id="5" name="표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04402377"/>
              </p:ext>
            </p:extLst>
          </p:nvPr>
        </p:nvGraphicFramePr>
        <p:xfrm>
          <a:off x="302952" y="2702225"/>
          <a:ext cx="11426308" cy="378184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56577">
                  <a:extLst>
                    <a:ext uri="{9D8B030D-6E8A-4147-A177-3AD203B41FA5}">
                      <a16:colId xmlns:a16="http://schemas.microsoft.com/office/drawing/2014/main" val="956832101"/>
                    </a:ext>
                  </a:extLst>
                </a:gridCol>
                <a:gridCol w="2856577">
                  <a:extLst>
                    <a:ext uri="{9D8B030D-6E8A-4147-A177-3AD203B41FA5}">
                      <a16:colId xmlns:a16="http://schemas.microsoft.com/office/drawing/2014/main" val="2325135401"/>
                    </a:ext>
                  </a:extLst>
                </a:gridCol>
                <a:gridCol w="2856577">
                  <a:extLst>
                    <a:ext uri="{9D8B030D-6E8A-4147-A177-3AD203B41FA5}">
                      <a16:colId xmlns:a16="http://schemas.microsoft.com/office/drawing/2014/main" val="1669866357"/>
                    </a:ext>
                  </a:extLst>
                </a:gridCol>
                <a:gridCol w="2856577">
                  <a:extLst>
                    <a:ext uri="{9D8B030D-6E8A-4147-A177-3AD203B41FA5}">
                      <a16:colId xmlns:a16="http://schemas.microsoft.com/office/drawing/2014/main" val="1337599892"/>
                    </a:ext>
                  </a:extLst>
                </a:gridCol>
              </a:tblGrid>
              <a:tr h="321846">
                <a:tc gridSpan="4">
                  <a:txBody>
                    <a:bodyPr/>
                    <a:lstStyle/>
                    <a:p>
                      <a:pPr algn="ctr" latinLnBrk="1"/>
                      <a:r>
                        <a:rPr lang="ko-KR" altLang="en-US">
                          <a:solidFill>
                            <a:schemeClr val="bg1"/>
                          </a:solidFill>
                        </a:rPr>
                        <a:t>기능</a:t>
                      </a:r>
                      <a:r>
                        <a:rPr lang="ko-KR" altLang="en-US" baseline="0">
                          <a:solidFill>
                            <a:schemeClr val="bg1"/>
                          </a:solidFill>
                        </a:rPr>
                        <a:t> </a:t>
                      </a:r>
                      <a:r>
                        <a:rPr lang="ko-KR" altLang="en-US">
                          <a:solidFill>
                            <a:schemeClr val="bg1"/>
                          </a:solidFill>
                        </a:rPr>
                        <a:t>흐름도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72472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 latinLnBrk="1"/>
                      <a:endParaRPr lang="ko-KR" altLang="en-US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6F00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 latinLnBrk="1"/>
                      <a:endParaRPr lang="ko-KR" altLang="en-US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6F00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 latinLnBrk="1"/>
                      <a:endParaRPr lang="ko-KR" altLang="en-US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6F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32358826"/>
                  </a:ext>
                </a:extLst>
              </a:tr>
              <a:tr h="2900000">
                <a:tc>
                  <a:txBody>
                    <a:bodyPr wrap="square"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sz="800" b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altLang="ko-KR" sz="1800" b="0">
                        <a:solidFill>
                          <a:srgbClr val="FF0000"/>
                        </a:solidFill>
                        <a:latin typeface="+mn-lt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sz="800" b="0">
                          <a:solidFill>
                            <a:srgbClr val="000000"/>
                          </a:solidFill>
                        </a:rPr>
                        <a:t/>
                      </a:r>
                      <a:endParaRPr lang="ko-KR" altLang="en-US" b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sz="800" b="0">
                          <a:solidFill>
                            <a:srgbClr val="000000"/>
                          </a:solidFill>
                        </a:rPr>
                        <a:t/>
                      </a:r>
                      <a:endParaRPr lang="ko-KR" altLang="en-US" b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sz="800" b="0">
                          <a:solidFill>
                            <a:srgbClr val="000000"/>
                          </a:solidFill>
                        </a:rPr>
                        <a:t/>
                      </a:r>
                      <a:endParaRPr lang="ko-KR" altLang="en-US" b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357600838"/>
                  </a:ext>
                </a:extLst>
              </a:tr>
              <a:tr h="560000">
                <a:tc>
                  <a:txBody>
                    <a:bodyPr wrap="square"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sz="1000" b="0">
                          <a:solidFill>
                            <a:srgbClr val="000000"/>
                          </a:solidFill>
                        </a:rPr>
                        <a:t>1. 성지 상세 「순례 기록」 — 다녀온 사람들의 한 줄과 사진</a:t>
                      </a:r>
                      <a:endParaRPr lang="en-US" altLang="ko-KR" b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latinLnBrk="1"/>
                      <a:r>
                        <a:rPr sz="1000" b="0">
                          <a:solidFill>
                            <a:srgbClr val="000000"/>
                          </a:solidFill>
                        </a:rPr>
                        <a:t>2. 하단 탭 가운데 「기록」 — 로그인하면 내 기록·즐겨찾기</a:t>
                      </a:r>
                      <a:endParaRPr lang="ko-KR" altLang="en-US" b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latinLnBrk="1"/>
                      <a:r>
                        <a:rPr sz="1000" b="0">
                          <a:solidFill>
                            <a:srgbClr val="000000"/>
                          </a:solidFill>
                        </a:rPr>
                        <a:t>3. 카카오·네이버·구글 간편 로그인, 이메일 가입(확인 메일은 화면 언어로)</a:t>
                      </a:r>
                      <a:endParaRPr lang="ko-KR" altLang="en-US" b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latinLnBrk="1"/>
                      <a:r>
                        <a:rPr sz="1000" b="0">
                          <a:solidFill>
                            <a:srgbClr val="000000"/>
                          </a:solidFill>
                        </a:rPr>
                        <a:t>4. 순례 코스 상세 — 기록 기준 「n화까지 기록」 진행</a:t>
                      </a:r>
                      <a:endParaRPr lang="ko-KR" altLang="en-US" b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293083417"/>
                  </a:ext>
                </a:extLst>
              </a:tr>
            </a:tbl>
          </a:graphicData>
        </a:graphic>
      </p:graphicFrame>
      <p:graphicFrame>
        <p:nvGraphicFramePr>
          <p:cNvPr id="6" name="표 5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591979266"/>
              </p:ext>
            </p:extLst>
          </p:nvPr>
        </p:nvGraphicFramePr>
        <p:xfrm>
          <a:off x="302952" y="1130530"/>
          <a:ext cx="11426308" cy="1371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82764">
                  <a:extLst>
                    <a:ext uri="{9D8B030D-6E8A-4147-A177-3AD203B41FA5}">
                      <a16:colId xmlns:a16="http://schemas.microsoft.com/office/drawing/2014/main" val="837638667"/>
                    </a:ext>
                  </a:extLst>
                </a:gridCol>
                <a:gridCol w="9643544">
                  <a:extLst>
                    <a:ext uri="{9D8B030D-6E8A-4147-A177-3AD203B41FA5}">
                      <a16:colId xmlns:a16="http://schemas.microsoft.com/office/drawing/2014/main" val="2364043552"/>
                    </a:ext>
                  </a:extLst>
                </a:gridCol>
              </a:tblGrid>
              <a:tr h="18288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b="1" dirty="0" smtClean="0">
                          <a:solidFill>
                            <a:schemeClr val="bg1"/>
                          </a:solidFill>
                        </a:rPr>
                        <a:t>해시태그</a:t>
                      </a:r>
                      <a:r>
                        <a:rPr lang="en-US" altLang="ko-KR" b="1" dirty="0" smtClean="0">
                          <a:solidFill>
                            <a:schemeClr val="bg1"/>
                          </a:solidFill>
                        </a:rPr>
                        <a:t>1</a:t>
                      </a:r>
                      <a:endParaRPr lang="ko-KR" altLang="en-US" b="1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99DBF"/>
                    </a:solidFill>
                  </a:tcPr>
                </a:tc>
                <a:tc>
                  <a:txBody>
                    <a:bodyPr wrap="square"/>
                    <a:lstStyle/>
                    <a:p>
                      <a:pPr latinLnBrk="1"/>
                      <a:r>
                        <a:rPr sz="1300" b="1">
                          <a:solidFill>
                            <a:srgbClr val="000000"/>
                          </a:solidFill>
                        </a:rPr>
                        <a:t>#순례기록</a:t>
                      </a:r>
                      <a:endParaRPr lang="ko-KR" altLang="en-US" b="0" i="1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576143207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b="1" dirty="0" err="1" smtClean="0">
                          <a:solidFill>
                            <a:schemeClr val="bg1"/>
                          </a:solidFill>
                        </a:rPr>
                        <a:t>연계기능</a:t>
                      </a:r>
                      <a:r>
                        <a:rPr lang="en-US" altLang="ko-KR" b="1" dirty="0" smtClean="0">
                          <a:solidFill>
                            <a:schemeClr val="bg1"/>
                          </a:solidFill>
                        </a:rPr>
                        <a:t>1</a:t>
                      </a:r>
                      <a:endParaRPr lang="ko-KR" altLang="en-US" b="1" dirty="0" smtClean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99DBF"/>
                    </a:solidFill>
                  </a:tcPr>
                </a:tc>
                <a:tc>
                  <a:txBody>
                    <a:bodyPr wrap="square"/>
                    <a:lstStyle/>
                    <a:p>
                      <a:pPr latinLnBrk="1"/>
                      <a:r>
                        <a:rPr sz="1200" b="0">
                          <a:solidFill>
                            <a:srgbClr val="000000"/>
                          </a:solidFill>
                        </a:rPr>
                        <a:t>다녀온 성지에 한 줄과 사진 — 함께 만드는 순례 안내</a:t>
                      </a:r>
                      <a:endParaRPr lang="ko-KR" altLang="en-US" b="0" i="1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261657432"/>
                  </a:ext>
                </a:extLst>
              </a:tr>
              <a:tr h="236913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b="1" dirty="0" err="1" smtClean="0">
                          <a:solidFill>
                            <a:schemeClr val="bg1"/>
                          </a:solidFill>
                        </a:rPr>
                        <a:t>기능설명</a:t>
                      </a:r>
                      <a:r>
                        <a:rPr lang="en-US" altLang="ko-KR" b="1" dirty="0" smtClean="0">
                          <a:solidFill>
                            <a:schemeClr val="bg1"/>
                          </a:solidFill>
                        </a:rPr>
                        <a:t>1</a:t>
                      </a:r>
                      <a:endParaRPr lang="ko-KR" altLang="en-US" b="1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99DBF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sz="900" b="0">
                          <a:solidFill>
                            <a:srgbClr val="000000"/>
                          </a:solidFill>
                        </a:rPr>
                        <a:t>성지 상세의 「순례 기록 남기기」로 방문일·한 줄 메모·사진(성지당 1개)을 남긴다. 다른 순례자에게 익명으로 공개되어 「순례 기록 (N)」으로 쌓이고, 신고로 걸러진다. 하단 탭 가운데 「기록」에서 내 기록과 즐겨찾는 성지를 모아 보고 수정·삭제한다. 순례 코스 상세는 기록을 기준으로 「n화까지 기록」 진행을 보여 준다. 기록은 우리 데이터라 분석할 수 있다 — 기록의 성지 → 지역으로 비수도권 방문 비율을 잴 수 있고, 다음 단계로 기록 저장 때 「한적했어요/보통/붐볐어요」를 받아 집중률 예측을 보정한다(발전계획).</a:t>
                      </a:r>
                      <a:endParaRPr lang="en-US" altLang="ko-KR" b="0" dirty="0" smtClean="0">
                        <a:solidFill>
                          <a:srgbClr val="FF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502682219"/>
                  </a:ext>
                </a:extLst>
              </a:tr>
            </a:tbl>
          </a:graphicData>
        </a:graphic>
      </p:graphicFrame>
      <p:pic>
        <p:nvPicPr>
          <p:cNvPr id="7" name="Picture 6" descr="detail-record-39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8942" y="3084071"/>
            <a:ext cx="1284597" cy="2780000"/>
          </a:xfrm>
          <a:prstGeom prst="rect">
            <a:avLst/>
          </a:prstGeom>
        </p:spPr>
      </p:pic>
      <p:pic>
        <p:nvPicPr>
          <p:cNvPr id="8" name="Picture 7" descr="records-39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45519" y="3084071"/>
            <a:ext cx="1284597" cy="2780000"/>
          </a:xfrm>
          <a:prstGeom prst="rect">
            <a:avLst/>
          </a:prstGeom>
        </p:spPr>
      </p:pic>
      <p:pic>
        <p:nvPicPr>
          <p:cNvPr id="9" name="Picture 8" descr="login-390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02096" y="3084071"/>
            <a:ext cx="1284597" cy="2780000"/>
          </a:xfrm>
          <a:prstGeom prst="rect">
            <a:avLst/>
          </a:prstGeom>
        </p:spPr>
      </p:pic>
      <p:pic>
        <p:nvPicPr>
          <p:cNvPr id="10" name="Picture 9" descr="route-detail-390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658673" y="3084071"/>
            <a:ext cx="1284597" cy="2780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1745</TotalTime>
  <Words>706</Words>
  <Application>Microsoft Office PowerPoint</Application>
  <PresentationFormat>와이드스크린</PresentationFormat>
  <Paragraphs>127</Paragraphs>
  <Slides>9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2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9</vt:i4>
      </vt:variant>
    </vt:vector>
  </HeadingPairs>
  <TitlesOfParts>
    <vt:vector size="12" baseType="lpstr">
      <vt:lpstr>맑은 고딕</vt:lpstr>
      <vt:lpstr>Arial</vt:lpstr>
      <vt:lpstr>Office 테마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프레젠테이션</dc:title>
  <dc:creator>KTO</dc:creator>
  <cp:lastModifiedBy>USER</cp:lastModifiedBy>
  <cp:revision>103</cp:revision>
  <dcterms:created xsi:type="dcterms:W3CDTF">2026-07-07T05:25:59Z</dcterms:created>
  <dcterms:modified xsi:type="dcterms:W3CDTF">2026-08-11T04:23:23Z</dcterms:modified>
</cp:coreProperties>
</file>